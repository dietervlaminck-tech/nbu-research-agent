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Stel: je hebt een onderzoeksvraag, maar geen tijd voor weken veldwerk. Vandaag laat ik zien wat één AI-agent daarmee doet — in drie minuten, van vraag naar inzicht. Alles wat je zo ziet is echt gebeurd op dit platform; niets is gemonteerd.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De opzet: één onderzoeksvraag die jullie allemaal herkennen — wat doen docenten eigenlijk met AI? De onderzoeker schreef alleen een interviewleidraad. Vier respondenten. En nul uur transcriberen of coderen. Eerlijkheidshalve: voor deze demo speelden AI-persona's de docenten, zodat ik niemand hoefde lastig te vallen — maar het platform zelf merkt geen verschil.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Stap één. De respondent klikt op een linkje en zit meteen in dit gesprek. Let op de vraag die de agent stelt: dit is geen vaste vragenlijst — hij luistert en vraagt dóór, zoals een goede interviewer. En hij doet dat met vier respondenten tegelijk, of vierhonderd, om drie uur 's nachts als het moet.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Een kwartier later: vier afgeronde gesprekken in het dashboard. En dit is het mooie — elk gesprek liep anders. De sceptische jurist kreeg vragen over zijn wantrouwen, de overbelaste docent over haar tijdgebrek. Dat krijg je met een vragenlijst nooit.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Dan de stap die normaal wéken kost: de analyse. Eén klik. De agent leest alle transcripten, ontwikkelt een codeboek — niet vooraf bedacht, maar uit de data — codeert 77 citaten woordelijk, en schrijft dit rapport. Inclusief de kanttekening die een goede onderzoeker zou maken: vier respondenten, dus voorzichtig generaliseren.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 En het rapport zegt écht iets. 'Adoptie is reëel, maar ongelijk, ambivalent en grotendeels geïmproviseerd' — herkenbaar? Met thema's als AI als voorbereidingsmotor, de angst dat studenten het productieve worstelen uitbesteden, en de roep om duidelijk beleid. Dit is het niveau van een degelijke eerste analyse.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En dan het belangrijkste voor de onderzoekers in de zaal: je zit nergens aan vast. Eén klik en de gecodeerde data staat in Atlas.ti of NVivo, surveydata in SPSS, transcripten in Word. De agent doet het voorwerk; het wetenschappelijke oordeel blijft van jou.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 Drie dingen om te onthouden. Doorlooptijd wordt rekentijd. De onderzoeker blijft regisseur — niets gaat naar buiten zonder jouw oordeel. En: wat jullie zagen was één module; hetzelfde platform doet ook surveys, statistiek, literatuuronderzoek en schrijfwerk. Ethiek en consent blijven gewoon gelden — dit versnelt het ambacht, het vervangt het niet.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 Drie minuten geleden hadden we alleen een vraag. Nu hebben we vier interviews, een codeboek, en een rapport met conclusies waar je een werkgroep mee kunt starten. Dat is wat een agent is: geen chatbot die antwoorden geeft, maar een systeem dat wérk doet. Vragen?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55071"/>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FBBA20"/>
          </a:solidFill>
          <a:ln/>
        </p:spPr>
      </p:sp>
      <p:sp>
        <p:nvSpPr>
          <p:cNvPr id="3" name="Text 1"/>
          <p:cNvSpPr/>
          <p:nvPr/>
        </p:nvSpPr>
        <p:spPr>
          <a:xfrm>
            <a:off x="914400" y="2148840"/>
            <a:ext cx="10332720" cy="1005840"/>
          </a:xfrm>
          <a:prstGeom prst="rect">
            <a:avLst/>
          </a:prstGeom>
          <a:noFill/>
          <a:ln/>
        </p:spPr>
        <p:txBody>
          <a:bodyPr wrap="square" rtlCol="0" anchor="ctr"/>
          <a:lstStyle/>
          <a:p>
            <a:pPr algn="ctr" indent="0" marL="0">
              <a:buNone/>
            </a:pPr>
            <a:r>
              <a:rPr lang="en-US" sz="4800" b="1" spc="600" kern="0" dirty="0">
                <a:solidFill>
                  <a:srgbClr val="FFFFFF"/>
                </a:solidFill>
                <a:latin typeface="Calibri" pitchFamily="34" charset="0"/>
                <a:ea typeface="Calibri" pitchFamily="34" charset="-122"/>
                <a:cs typeface="Calibri" pitchFamily="34" charset="-120"/>
              </a:rPr>
              <a:t>VAN VRAAG NAAR INZICHT</a:t>
            </a:r>
            <a:endParaRPr lang="en-US" sz="4800" dirty="0"/>
          </a:p>
        </p:txBody>
      </p:sp>
      <p:sp>
        <p:nvSpPr>
          <p:cNvPr id="4" name="Text 2"/>
          <p:cNvSpPr/>
          <p:nvPr/>
        </p:nvSpPr>
        <p:spPr>
          <a:xfrm>
            <a:off x="1371600" y="3246120"/>
            <a:ext cx="9418320" cy="548640"/>
          </a:xfrm>
          <a:prstGeom prst="rect">
            <a:avLst/>
          </a:prstGeom>
          <a:noFill/>
          <a:ln/>
        </p:spPr>
        <p:txBody>
          <a:bodyPr wrap="square" rtlCol="0" anchor="ctr"/>
          <a:lstStyle/>
          <a:p>
            <a:pPr algn="ctr" indent="0" marL="0">
              <a:buNone/>
            </a:pPr>
            <a:r>
              <a:rPr lang="en-US" sz="1900" dirty="0">
                <a:solidFill>
                  <a:srgbClr val="C8D3D9"/>
                </a:solidFill>
                <a:latin typeface="Calibri" pitchFamily="34" charset="0"/>
                <a:ea typeface="Calibri" pitchFamily="34" charset="-122"/>
                <a:cs typeface="Calibri" pitchFamily="34" charset="-120"/>
              </a:rPr>
              <a:t>Eén AI-onderzoeksagent voor de hele onderzoekscyclus — een demo van drie minuten</a:t>
            </a:r>
            <a:endParaRPr lang="en-US" sz="1900" dirty="0"/>
          </a:p>
        </p:txBody>
      </p:sp>
      <p:sp>
        <p:nvSpPr>
          <p:cNvPr id="5" name="Text 3"/>
          <p:cNvSpPr/>
          <p:nvPr/>
        </p:nvSpPr>
        <p:spPr>
          <a:xfrm>
            <a:off x="1371600" y="3977640"/>
            <a:ext cx="9418320" cy="457200"/>
          </a:xfrm>
          <a:prstGeom prst="rect">
            <a:avLst/>
          </a:prstGeom>
          <a:noFill/>
          <a:ln/>
        </p:spPr>
        <p:txBody>
          <a:bodyPr wrap="square" rtlCol="0" anchor="ctr"/>
          <a:lstStyle/>
          <a:p>
            <a:pPr algn="ctr" indent="0" marL="0">
              <a:buNone/>
            </a:pPr>
            <a:r>
              <a:rPr lang="en-US" sz="1600" i="1" dirty="0">
                <a:solidFill>
                  <a:srgbClr val="FBBA20"/>
                </a:solidFill>
                <a:latin typeface="Calibri" pitchFamily="34" charset="0"/>
                <a:ea typeface="Calibri" pitchFamily="34" charset="-122"/>
                <a:cs typeface="Calibri" pitchFamily="34" charset="-120"/>
              </a:rPr>
              <a:t>interviewen   ·   analyseren   ·   rapporteren</a:t>
            </a:r>
            <a:endParaRPr lang="en-US" sz="1600" dirty="0"/>
          </a:p>
        </p:txBody>
      </p:sp>
      <p:sp>
        <p:nvSpPr>
          <p:cNvPr id="6" name="Shape 4"/>
          <p:cNvSpPr/>
          <p:nvPr/>
        </p:nvSpPr>
        <p:spPr>
          <a:xfrm>
            <a:off x="0" y="6473952"/>
            <a:ext cx="12161520" cy="384048"/>
          </a:xfrm>
          <a:prstGeom prst="rect">
            <a:avLst/>
          </a:prstGeom>
          <a:solidFill>
            <a:srgbClr val="5D7291"/>
          </a:solidFill>
          <a:ln/>
        </p:spPr>
      </p:sp>
      <p:sp>
        <p:nvSpPr>
          <p:cNvPr id="7" name="Text 5"/>
          <p:cNvSpPr/>
          <p:nvPr/>
        </p:nvSpPr>
        <p:spPr>
          <a:xfrm>
            <a:off x="0" y="6473952"/>
            <a:ext cx="12161520" cy="384048"/>
          </a:xfrm>
          <a:prstGeom prst="rect">
            <a:avLst/>
          </a:prstGeom>
          <a:noFill/>
          <a:ln/>
        </p:spPr>
        <p:txBody>
          <a:bodyPr wrap="square" rtlCol="0" anchor="ctr"/>
          <a:lstStyle/>
          <a:p>
            <a:pPr algn="ctr" indent="0" marL="0">
              <a:buNone/>
            </a:pPr>
            <a:r>
              <a:rPr lang="en-US" sz="1000" b="1" spc="400" kern="0" dirty="0">
                <a:solidFill>
                  <a:srgbClr val="FFFFFF"/>
                </a:solidFill>
                <a:latin typeface="Calibri" pitchFamily="34" charset="0"/>
                <a:ea typeface="Calibri" pitchFamily="34" charset="-122"/>
                <a:cs typeface="Calibri" pitchFamily="34" charset="-120"/>
              </a:rPr>
              <a:t>NYENRODE. A REWARD FOR LIFE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640080"/>
          </a:xfrm>
          <a:prstGeom prst="rect">
            <a:avLst/>
          </a:prstGeom>
          <a:noFill/>
          <a:ln/>
        </p:spPr>
        <p:txBody>
          <a:bodyPr wrap="square" lIns="0" tIns="0" rIns="0" bIns="0" rtlCol="0" anchor="ctr"/>
          <a:lstStyle/>
          <a:p>
            <a:pPr indent="0" marL="0">
              <a:buNone/>
            </a:pPr>
            <a:r>
              <a:rPr lang="en-US" sz="2600" b="1" spc="300" kern="0" dirty="0">
                <a:solidFill>
                  <a:srgbClr val="355071"/>
                </a:solidFill>
                <a:latin typeface="Calibri" pitchFamily="34" charset="0"/>
                <a:ea typeface="Calibri" pitchFamily="34" charset="-122"/>
                <a:cs typeface="Calibri" pitchFamily="34" charset="-120"/>
              </a:rPr>
              <a:t>DE OPZET — ÉÉN VRAAG, NUL UUR VELDWERK</a:t>
            </a:r>
            <a:endParaRPr lang="en-US" sz="2600" dirty="0"/>
          </a:p>
        </p:txBody>
      </p:sp>
      <p:sp>
        <p:nvSpPr>
          <p:cNvPr id="3" name="Shape 1"/>
          <p:cNvSpPr/>
          <p:nvPr/>
        </p:nvSpPr>
        <p:spPr>
          <a:xfrm>
            <a:off x="502920" y="1234440"/>
            <a:ext cx="11155680" cy="1325880"/>
          </a:xfrm>
          <a:prstGeom prst="rect">
            <a:avLst/>
          </a:prstGeom>
          <a:solidFill>
            <a:srgbClr val="F0F2F5"/>
          </a:solidFill>
          <a:ln/>
        </p:spPr>
      </p:sp>
      <p:sp>
        <p:nvSpPr>
          <p:cNvPr id="4" name="Text 2"/>
          <p:cNvSpPr/>
          <p:nvPr/>
        </p:nvSpPr>
        <p:spPr>
          <a:xfrm>
            <a:off x="868680" y="1417320"/>
            <a:ext cx="10424160" cy="320040"/>
          </a:xfrm>
          <a:prstGeom prst="rect">
            <a:avLst/>
          </a:prstGeom>
          <a:noFill/>
          <a:ln/>
        </p:spPr>
        <p:txBody>
          <a:bodyPr wrap="square" lIns="0" tIns="0" rIns="0" bIns="0" rtlCol="0" anchor="ctr"/>
          <a:lstStyle/>
          <a:p>
            <a:pPr indent="0" marL="0">
              <a:buNone/>
            </a:pPr>
            <a:r>
              <a:rPr lang="en-US" sz="1300" b="1" spc="300" kern="0" dirty="0">
                <a:solidFill>
                  <a:srgbClr val="355071"/>
                </a:solidFill>
                <a:latin typeface="Calibri" pitchFamily="34" charset="0"/>
                <a:ea typeface="Calibri" pitchFamily="34" charset="-122"/>
                <a:cs typeface="Calibri" pitchFamily="34" charset="-120"/>
              </a:rPr>
              <a:t>ONZE ONDERZOEKSVRAAG VANDAAG</a:t>
            </a:r>
            <a:endParaRPr lang="en-US" sz="1300" dirty="0"/>
          </a:p>
        </p:txBody>
      </p:sp>
      <p:sp>
        <p:nvSpPr>
          <p:cNvPr id="5" name="Text 3"/>
          <p:cNvSpPr/>
          <p:nvPr/>
        </p:nvSpPr>
        <p:spPr>
          <a:xfrm>
            <a:off x="868680" y="1783080"/>
            <a:ext cx="10424160" cy="640080"/>
          </a:xfrm>
          <a:prstGeom prst="rect">
            <a:avLst/>
          </a:prstGeom>
          <a:noFill/>
          <a:ln/>
        </p:spPr>
        <p:txBody>
          <a:bodyPr wrap="square" lIns="0" tIns="0" rIns="0" bIns="0" rtlCol="0" anchor="ctr"/>
          <a:lstStyle/>
          <a:p>
            <a:pPr indent="0" marL="0">
              <a:buNone/>
            </a:pPr>
            <a:r>
              <a:rPr lang="en-US" sz="2400" i="1" dirty="0">
                <a:solidFill>
                  <a:srgbClr val="355071"/>
                </a:solidFill>
                <a:latin typeface="Calibri" pitchFamily="34" charset="0"/>
                <a:ea typeface="Calibri" pitchFamily="34" charset="-122"/>
                <a:cs typeface="Calibri" pitchFamily="34" charset="-120"/>
              </a:rPr>
              <a:t>“Hoe ervaren en adopteren docenten AI-tools in hun onderwijs?”</a:t>
            </a:r>
            <a:endParaRPr lang="en-US" sz="2400" dirty="0"/>
          </a:p>
        </p:txBody>
      </p:sp>
      <p:sp>
        <p:nvSpPr>
          <p:cNvPr id="6" name="Shape 4"/>
          <p:cNvSpPr/>
          <p:nvPr/>
        </p:nvSpPr>
        <p:spPr>
          <a:xfrm>
            <a:off x="502920" y="3017520"/>
            <a:ext cx="3474720" cy="2286000"/>
          </a:xfrm>
          <a:prstGeom prst="rect">
            <a:avLst/>
          </a:prstGeom>
          <a:solidFill>
            <a:srgbClr val="FFFFFF"/>
          </a:solidFill>
          <a:ln w="12700">
            <a:solidFill>
              <a:srgbClr val="5D7291"/>
            </a:solidFill>
            <a:prstDash val="solid"/>
          </a:ln>
          <a:effectLst>
            <a:outerShdw sx="100000" sy="100000" kx="0" ky="0" algn="bl" rotWithShape="0" blurRad="101600" dist="38100" dir="8100000">
              <a:srgbClr val="355071">
                <a:alpha val="30000"/>
              </a:srgbClr>
            </a:outerShdw>
          </a:effectLst>
        </p:spPr>
      </p:sp>
      <p:sp>
        <p:nvSpPr>
          <p:cNvPr id="7" name="Text 5"/>
          <p:cNvSpPr/>
          <p:nvPr/>
        </p:nvSpPr>
        <p:spPr>
          <a:xfrm>
            <a:off x="502920" y="3246120"/>
            <a:ext cx="3474720" cy="1005840"/>
          </a:xfrm>
          <a:prstGeom prst="rect">
            <a:avLst/>
          </a:prstGeom>
          <a:noFill/>
          <a:ln/>
        </p:spPr>
        <p:txBody>
          <a:bodyPr wrap="square" rtlCol="0" anchor="ctr"/>
          <a:lstStyle/>
          <a:p>
            <a:pPr algn="ctr" indent="0" marL="0">
              <a:buNone/>
            </a:pPr>
            <a:r>
              <a:rPr lang="en-US" sz="6000" b="1" dirty="0">
                <a:solidFill>
                  <a:srgbClr val="5D7291"/>
                </a:solidFill>
                <a:latin typeface="Calibri" pitchFamily="34" charset="0"/>
                <a:ea typeface="Calibri" pitchFamily="34" charset="-122"/>
                <a:cs typeface="Calibri" pitchFamily="34" charset="-120"/>
              </a:rPr>
              <a:t>1</a:t>
            </a:r>
            <a:endParaRPr lang="en-US" sz="6000" dirty="0"/>
          </a:p>
        </p:txBody>
      </p:sp>
      <p:sp>
        <p:nvSpPr>
          <p:cNvPr id="8" name="Text 6"/>
          <p:cNvSpPr/>
          <p:nvPr/>
        </p:nvSpPr>
        <p:spPr>
          <a:xfrm>
            <a:off x="685800" y="4343400"/>
            <a:ext cx="3108960" cy="822960"/>
          </a:xfrm>
          <a:prstGeom prst="rect">
            <a:avLst/>
          </a:prstGeom>
          <a:noFill/>
          <a:ln/>
        </p:spPr>
        <p:txBody>
          <a:bodyPr wrap="square" rtlCol="0" anchor="ctr"/>
          <a:lstStyle/>
          <a:p>
            <a:pPr algn="ctr" indent="0" marL="0">
              <a:buNone/>
            </a:pPr>
            <a:r>
              <a:rPr lang="en-US" sz="1400" dirty="0">
                <a:solidFill>
                  <a:srgbClr val="1A1A1A"/>
                </a:solidFill>
                <a:latin typeface="Calibri" pitchFamily="34" charset="0"/>
                <a:ea typeface="Calibri" pitchFamily="34" charset="-122"/>
                <a:cs typeface="Calibri" pitchFamily="34" charset="-120"/>
              </a:rPr>
              <a:t>interviewleidraad,</a:t>
            </a:r>
            <a:endParaRPr lang="en-US" sz="1400" dirty="0"/>
          </a:p>
          <a:p>
            <a:pPr algn="ctr" indent="0" marL="0">
              <a:buNone/>
            </a:pPr>
            <a:r>
              <a:rPr lang="en-US" sz="1400" dirty="0">
                <a:solidFill>
                  <a:srgbClr val="1A1A1A"/>
                </a:solidFill>
                <a:latin typeface="Calibri" pitchFamily="34" charset="0"/>
                <a:ea typeface="Calibri" pitchFamily="34" charset="-122"/>
                <a:cs typeface="Calibri" pitchFamily="34" charset="-120"/>
              </a:rPr>
              <a:t>geschreven door de onderzoeker</a:t>
            </a:r>
            <a:endParaRPr lang="en-US" sz="1400" dirty="0"/>
          </a:p>
        </p:txBody>
      </p:sp>
      <p:sp>
        <p:nvSpPr>
          <p:cNvPr id="9" name="Shape 7"/>
          <p:cNvSpPr/>
          <p:nvPr/>
        </p:nvSpPr>
        <p:spPr>
          <a:xfrm>
            <a:off x="4343400" y="3017520"/>
            <a:ext cx="3474720" cy="2286000"/>
          </a:xfrm>
          <a:prstGeom prst="rect">
            <a:avLst/>
          </a:prstGeom>
          <a:solidFill>
            <a:srgbClr val="FFFFFF"/>
          </a:solidFill>
          <a:ln w="12700">
            <a:solidFill>
              <a:srgbClr val="5D7291"/>
            </a:solidFill>
            <a:prstDash val="solid"/>
          </a:ln>
          <a:effectLst>
            <a:outerShdw sx="100000" sy="100000" kx="0" ky="0" algn="bl" rotWithShape="0" blurRad="101600" dist="38100" dir="8100000">
              <a:srgbClr val="355071">
                <a:alpha val="30000"/>
              </a:srgbClr>
            </a:outerShdw>
          </a:effectLst>
        </p:spPr>
      </p:sp>
      <p:sp>
        <p:nvSpPr>
          <p:cNvPr id="10" name="Text 8"/>
          <p:cNvSpPr/>
          <p:nvPr/>
        </p:nvSpPr>
        <p:spPr>
          <a:xfrm>
            <a:off x="4343400" y="3246120"/>
            <a:ext cx="3474720" cy="1005840"/>
          </a:xfrm>
          <a:prstGeom prst="rect">
            <a:avLst/>
          </a:prstGeom>
          <a:noFill/>
          <a:ln/>
        </p:spPr>
        <p:txBody>
          <a:bodyPr wrap="square" rtlCol="0" anchor="ctr"/>
          <a:lstStyle/>
          <a:p>
            <a:pPr algn="ctr" indent="0" marL="0">
              <a:buNone/>
            </a:pPr>
            <a:r>
              <a:rPr lang="en-US" sz="6000" b="1" dirty="0">
                <a:solidFill>
                  <a:srgbClr val="5D7291"/>
                </a:solidFill>
                <a:latin typeface="Calibri" pitchFamily="34" charset="0"/>
                <a:ea typeface="Calibri" pitchFamily="34" charset="-122"/>
                <a:cs typeface="Calibri" pitchFamily="34" charset="-120"/>
              </a:rPr>
              <a:t>4</a:t>
            </a:r>
            <a:endParaRPr lang="en-US" sz="6000" dirty="0"/>
          </a:p>
        </p:txBody>
      </p:sp>
      <p:sp>
        <p:nvSpPr>
          <p:cNvPr id="11" name="Text 9"/>
          <p:cNvSpPr/>
          <p:nvPr/>
        </p:nvSpPr>
        <p:spPr>
          <a:xfrm>
            <a:off x="4526280" y="4343400"/>
            <a:ext cx="3108960" cy="822960"/>
          </a:xfrm>
          <a:prstGeom prst="rect">
            <a:avLst/>
          </a:prstGeom>
          <a:noFill/>
          <a:ln/>
        </p:spPr>
        <p:txBody>
          <a:bodyPr wrap="square" rtlCol="0" anchor="ctr"/>
          <a:lstStyle/>
          <a:p>
            <a:pPr algn="ctr" indent="0" marL="0">
              <a:buNone/>
            </a:pPr>
            <a:r>
              <a:rPr lang="en-US" sz="1400" dirty="0">
                <a:solidFill>
                  <a:srgbClr val="1A1A1A"/>
                </a:solidFill>
                <a:latin typeface="Calibri" pitchFamily="34" charset="0"/>
                <a:ea typeface="Calibri" pitchFamily="34" charset="-122"/>
                <a:cs typeface="Calibri" pitchFamily="34" charset="-120"/>
              </a:rPr>
              <a:t>respondenten,</a:t>
            </a:r>
            <a:endParaRPr lang="en-US" sz="1400" dirty="0"/>
          </a:p>
          <a:p>
            <a:pPr algn="ctr" indent="0" marL="0">
              <a:buNone/>
            </a:pPr>
            <a:r>
              <a:rPr lang="en-US" sz="1400" dirty="0">
                <a:solidFill>
                  <a:srgbClr val="1A1A1A"/>
                </a:solidFill>
                <a:latin typeface="Calibri" pitchFamily="34" charset="0"/>
                <a:ea typeface="Calibri" pitchFamily="34" charset="-122"/>
                <a:cs typeface="Calibri" pitchFamily="34" charset="-120"/>
              </a:rPr>
              <a:t>geïnterviewd door de AI-agent</a:t>
            </a:r>
            <a:endParaRPr lang="en-US" sz="1400" dirty="0"/>
          </a:p>
        </p:txBody>
      </p:sp>
      <p:sp>
        <p:nvSpPr>
          <p:cNvPr id="12" name="Shape 10"/>
          <p:cNvSpPr/>
          <p:nvPr/>
        </p:nvSpPr>
        <p:spPr>
          <a:xfrm>
            <a:off x="8183880" y="3017520"/>
            <a:ext cx="3474720" cy="2286000"/>
          </a:xfrm>
          <a:prstGeom prst="rect">
            <a:avLst/>
          </a:prstGeom>
          <a:solidFill>
            <a:srgbClr val="FFFFFF"/>
          </a:solidFill>
          <a:ln w="12700">
            <a:solidFill>
              <a:srgbClr val="5D7291"/>
            </a:solidFill>
            <a:prstDash val="solid"/>
          </a:ln>
          <a:effectLst>
            <a:outerShdw sx="100000" sy="100000" kx="0" ky="0" algn="bl" rotWithShape="0" blurRad="101600" dist="38100" dir="8100000">
              <a:srgbClr val="355071">
                <a:alpha val="30000"/>
              </a:srgbClr>
            </a:outerShdw>
          </a:effectLst>
        </p:spPr>
      </p:sp>
      <p:sp>
        <p:nvSpPr>
          <p:cNvPr id="13" name="Text 11"/>
          <p:cNvSpPr/>
          <p:nvPr/>
        </p:nvSpPr>
        <p:spPr>
          <a:xfrm>
            <a:off x="8183880" y="3246120"/>
            <a:ext cx="3474720" cy="1005840"/>
          </a:xfrm>
          <a:prstGeom prst="rect">
            <a:avLst/>
          </a:prstGeom>
          <a:noFill/>
          <a:ln/>
        </p:spPr>
        <p:txBody>
          <a:bodyPr wrap="square" rtlCol="0" anchor="ctr"/>
          <a:lstStyle/>
          <a:p>
            <a:pPr algn="ctr" indent="0" marL="0">
              <a:buNone/>
            </a:pPr>
            <a:r>
              <a:rPr lang="en-US" sz="6000" b="1" dirty="0">
                <a:solidFill>
                  <a:srgbClr val="5D7291"/>
                </a:solidFill>
                <a:latin typeface="Calibri" pitchFamily="34" charset="0"/>
                <a:ea typeface="Calibri" pitchFamily="34" charset="-122"/>
                <a:cs typeface="Calibri" pitchFamily="34" charset="-120"/>
              </a:rPr>
              <a:t>0</a:t>
            </a:r>
            <a:endParaRPr lang="en-US" sz="6000" dirty="0"/>
          </a:p>
        </p:txBody>
      </p:sp>
      <p:sp>
        <p:nvSpPr>
          <p:cNvPr id="14" name="Text 12"/>
          <p:cNvSpPr/>
          <p:nvPr/>
        </p:nvSpPr>
        <p:spPr>
          <a:xfrm>
            <a:off x="8366760" y="4343400"/>
            <a:ext cx="3108960" cy="822960"/>
          </a:xfrm>
          <a:prstGeom prst="rect">
            <a:avLst/>
          </a:prstGeom>
          <a:noFill/>
          <a:ln/>
        </p:spPr>
        <p:txBody>
          <a:bodyPr wrap="square" rtlCol="0" anchor="ctr"/>
          <a:lstStyle/>
          <a:p>
            <a:pPr algn="ctr" indent="0" marL="0">
              <a:buNone/>
            </a:pPr>
            <a:r>
              <a:rPr lang="en-US" sz="1400" dirty="0">
                <a:solidFill>
                  <a:srgbClr val="1A1A1A"/>
                </a:solidFill>
                <a:latin typeface="Calibri" pitchFamily="34" charset="0"/>
                <a:ea typeface="Calibri" pitchFamily="34" charset="-122"/>
                <a:cs typeface="Calibri" pitchFamily="34" charset="-120"/>
              </a:rPr>
              <a:t>uur transcriberen,</a:t>
            </a:r>
            <a:endParaRPr lang="en-US" sz="1400" dirty="0"/>
          </a:p>
          <a:p>
            <a:pPr algn="ctr" indent="0" marL="0">
              <a:buNone/>
            </a:pPr>
            <a:r>
              <a:rPr lang="en-US" sz="1400" dirty="0">
                <a:solidFill>
                  <a:srgbClr val="1A1A1A"/>
                </a:solidFill>
                <a:latin typeface="Calibri" pitchFamily="34" charset="0"/>
                <a:ea typeface="Calibri" pitchFamily="34" charset="-122"/>
                <a:cs typeface="Calibri" pitchFamily="34" charset="-120"/>
              </a:rPr>
              <a:t>coderen of turven</a:t>
            </a:r>
            <a:endParaRPr lang="en-US" sz="1400" dirty="0"/>
          </a:p>
        </p:txBody>
      </p:sp>
      <p:sp>
        <p:nvSpPr>
          <p:cNvPr id="15" name="Text 13"/>
          <p:cNvSpPr/>
          <p:nvPr/>
        </p:nvSpPr>
        <p:spPr>
          <a:xfrm>
            <a:off x="502920" y="5623560"/>
            <a:ext cx="11155680" cy="365760"/>
          </a:xfrm>
          <a:prstGeom prst="rect">
            <a:avLst/>
          </a:prstGeom>
          <a:noFill/>
          <a:ln/>
        </p:spPr>
        <p:txBody>
          <a:bodyPr wrap="square" rtlCol="0" anchor="ctr"/>
          <a:lstStyle/>
          <a:p>
            <a:pPr indent="0" marL="0">
              <a:buNone/>
            </a:pPr>
            <a:r>
              <a:rPr lang="en-US" sz="1300" i="1" dirty="0">
                <a:solidFill>
                  <a:srgbClr val="355071"/>
                </a:solidFill>
                <a:latin typeface="Calibri" pitchFamily="34" charset="0"/>
                <a:ea typeface="Calibri" pitchFamily="34" charset="-122"/>
                <a:cs typeface="Calibri" pitchFamily="34" charset="-120"/>
              </a:rPr>
              <a:t>Voor deze demo speelden vier AI-persona's de docenten — in het echt zijn dit gewoon jullie respondenten via een linkje.</a:t>
            </a:r>
            <a:endParaRPr lang="en-US" sz="1300" dirty="0"/>
          </a:p>
        </p:txBody>
      </p:sp>
      <p:sp>
        <p:nvSpPr>
          <p:cNvPr id="16" name="Shape 14"/>
          <p:cNvSpPr/>
          <p:nvPr/>
        </p:nvSpPr>
        <p:spPr>
          <a:xfrm>
            <a:off x="0" y="6473952"/>
            <a:ext cx="12161520" cy="384048"/>
          </a:xfrm>
          <a:prstGeom prst="rect">
            <a:avLst/>
          </a:prstGeom>
          <a:solidFill>
            <a:srgbClr val="5D7291"/>
          </a:solidFill>
          <a:ln/>
        </p:spPr>
      </p:sp>
      <p:sp>
        <p:nvSpPr>
          <p:cNvPr id="17" name="Text 15"/>
          <p:cNvSpPr/>
          <p:nvPr/>
        </p:nvSpPr>
        <p:spPr>
          <a:xfrm>
            <a:off x="0" y="6473952"/>
            <a:ext cx="12161520" cy="384048"/>
          </a:xfrm>
          <a:prstGeom prst="rect">
            <a:avLst/>
          </a:prstGeom>
          <a:noFill/>
          <a:ln/>
        </p:spPr>
        <p:txBody>
          <a:bodyPr wrap="square" rtlCol="0" anchor="ctr"/>
          <a:lstStyle/>
          <a:p>
            <a:pPr algn="ctr" indent="0" marL="0">
              <a:buNone/>
            </a:pPr>
            <a:r>
              <a:rPr lang="en-US" sz="1000" b="1" spc="400" kern="0" dirty="0">
                <a:solidFill>
                  <a:srgbClr val="FFFFFF"/>
                </a:solidFill>
                <a:latin typeface="Calibri" pitchFamily="34" charset="0"/>
                <a:ea typeface="Calibri" pitchFamily="34" charset="-122"/>
                <a:cs typeface="Calibri" pitchFamily="34" charset="-120"/>
              </a:rPr>
              <a:t>NYENRODE. A REWARD FOR LIFE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80000">
            <a:off x="502920" y="384048"/>
            <a:ext cx="566928" cy="566928"/>
          </a:xfrm>
          <a:prstGeom prst="ellipse">
            <a:avLst/>
          </a:prstGeom>
          <a:solidFill>
            <a:srgbClr val="FBBA20"/>
          </a:solidFill>
          <a:ln/>
        </p:spPr>
      </p:sp>
      <p:sp>
        <p:nvSpPr>
          <p:cNvPr id="3" name="Text 1"/>
          <p:cNvSpPr/>
          <p:nvPr/>
        </p:nvSpPr>
        <p:spPr>
          <a:xfrm>
            <a:off x="502920" y="384048"/>
            <a:ext cx="566928" cy="566928"/>
          </a:xfrm>
          <a:prstGeom prst="rect">
            <a:avLst/>
          </a:prstGeom>
          <a:noFill/>
          <a:ln/>
        </p:spPr>
        <p:txBody>
          <a:bodyPr wrap="square" lIns="0" tIns="0" rIns="0" bIns="0" rtlCol="0" anchor="ctr"/>
          <a:lstStyle/>
          <a:p>
            <a:pPr algn="ctr" indent="0" marL="0">
              <a:buNone/>
            </a:pPr>
            <a:r>
              <a:rPr lang="en-US" sz="2200" b="1" dirty="0">
                <a:solidFill>
                  <a:srgbClr val="355071"/>
                </a:solidFill>
                <a:latin typeface="Calibri" pitchFamily="34" charset="0"/>
                <a:ea typeface="Calibri" pitchFamily="34" charset="-122"/>
                <a:cs typeface="Calibri" pitchFamily="34" charset="-120"/>
              </a:rPr>
              <a:t>1</a:t>
            </a:r>
            <a:endParaRPr lang="en-US" sz="2200" dirty="0"/>
          </a:p>
        </p:txBody>
      </p:sp>
      <p:sp>
        <p:nvSpPr>
          <p:cNvPr id="4" name="Text 2"/>
          <p:cNvSpPr/>
          <p:nvPr/>
        </p:nvSpPr>
        <p:spPr>
          <a:xfrm>
            <a:off x="1280160" y="347472"/>
            <a:ext cx="10332720" cy="640080"/>
          </a:xfrm>
          <a:prstGeom prst="rect">
            <a:avLst/>
          </a:prstGeom>
          <a:noFill/>
          <a:ln/>
        </p:spPr>
        <p:txBody>
          <a:bodyPr wrap="square" lIns="0" tIns="0" rIns="0" bIns="0" rtlCol="0" anchor="ctr"/>
          <a:lstStyle/>
          <a:p>
            <a:pPr indent="0" marL="0">
              <a:buNone/>
            </a:pPr>
            <a:r>
              <a:rPr lang="en-US" sz="2600" b="1" spc="300" kern="0" dirty="0">
                <a:solidFill>
                  <a:srgbClr val="355071"/>
                </a:solidFill>
                <a:latin typeface="Calibri" pitchFamily="34" charset="0"/>
                <a:ea typeface="Calibri" pitchFamily="34" charset="-122"/>
                <a:cs typeface="Calibri" pitchFamily="34" charset="-120"/>
              </a:rPr>
              <a:t>DE AGENT INTERVIEWT — ADAPTIEF, 24/7</a:t>
            </a:r>
            <a:endParaRPr lang="en-US" sz="2600" dirty="0"/>
          </a:p>
        </p:txBody>
      </p:sp>
      <p:sp>
        <p:nvSpPr>
          <p:cNvPr id="5" name="Shape 3"/>
          <p:cNvSpPr/>
          <p:nvPr/>
        </p:nvSpPr>
        <p:spPr>
          <a:xfrm>
            <a:off x="4809744" y="1289304"/>
            <a:ext cx="6839712" cy="4302252"/>
          </a:xfrm>
          <a:prstGeom prst="rect">
            <a:avLst/>
          </a:prstGeom>
          <a:solidFill>
            <a:srgbClr val="FFFFFF"/>
          </a:solidFill>
          <a:ln w="15875">
            <a:solidFill>
              <a:srgbClr val="5D7291"/>
            </a:solidFill>
            <a:prstDash val="solid"/>
          </a:ln>
          <a:effectLst>
            <a:outerShdw sx="100000" sy="100000" kx="0" ky="0" algn="bl" rotWithShape="0" blurRad="101600" dist="38100" dir="8100000">
              <a:srgbClr val="355071">
                <a:alpha val="30000"/>
              </a:srgbClr>
            </a:outerShdw>
          </a:effectLst>
        </p:spPr>
      </p:sp>
      <p:pic>
        <p:nvPicPr>
          <p:cNvPr id="6" name="Image 0" descr="/Users/dietervlaminck/Desktop/NBU-research-agent/demo/screenshots/03_chat.png">    </p:cNvPr>
          <p:cNvPicPr>
            <a:picLocks noChangeAspect="1"/>
          </p:cNvPicPr>
          <p:nvPr/>
        </p:nvPicPr>
        <p:blipFill>
          <a:blip r:embed="rId1"/>
          <a:stretch>
            <a:fillRect/>
          </a:stretch>
        </p:blipFill>
        <p:spPr>
          <a:xfrm>
            <a:off x="4846320" y="1325880"/>
            <a:ext cx="6766560" cy="4229100"/>
          </a:xfrm>
          <a:prstGeom prst="rect">
            <a:avLst/>
          </a:prstGeom>
        </p:spPr>
      </p:pic>
      <p:sp>
        <p:nvSpPr>
          <p:cNvPr id="7" name="Text 4"/>
          <p:cNvSpPr/>
          <p:nvPr/>
        </p:nvSpPr>
        <p:spPr>
          <a:xfrm>
            <a:off x="502920" y="1417320"/>
            <a:ext cx="4023360" cy="4114800"/>
          </a:xfrm>
          <a:prstGeom prst="rect">
            <a:avLst/>
          </a:prstGeom>
          <a:noFill/>
          <a:ln/>
        </p:spPr>
        <p:txBody>
          <a:bodyPr wrap="square" rtlCol="0" anchor="t"/>
          <a:lstStyle/>
          <a:p>
            <a:pPr marL="342900" indent="-342900">
              <a:spcAft>
                <a:spcPts val="1300"/>
              </a:spcAft>
              <a:buSzPct val="100000"/>
              <a:buChar char="–"/>
            </a:pPr>
            <a:r>
              <a:rPr lang="en-US" sz="1600" dirty="0">
                <a:solidFill>
                  <a:srgbClr val="1A1A1A"/>
                </a:solidFill>
                <a:latin typeface="Calibri" pitchFamily="34" charset="0"/>
                <a:ea typeface="Calibri" pitchFamily="34" charset="-122"/>
                <a:cs typeface="Calibri" pitchFamily="34" charset="-120"/>
              </a:rPr>
              <a:t>Respondenten krijgen een linkje — via mail, WhatsApp of Teams. Geen account, geen installatie.</a:t>
            </a:r>
            <a:endParaRPr lang="en-US" sz="1600" dirty="0"/>
          </a:p>
          <a:p>
            <a:pPr marL="342900" indent="-342900">
              <a:spcAft>
                <a:spcPts val="1300"/>
              </a:spcAft>
              <a:buSzPct val="100000"/>
              <a:buChar char="–"/>
            </a:pPr>
            <a:r>
              <a:rPr lang="en-US" sz="1600" dirty="0">
                <a:solidFill>
                  <a:srgbClr val="1A1A1A"/>
                </a:solidFill>
                <a:latin typeface="Calibri" pitchFamily="34" charset="0"/>
                <a:ea typeface="Calibri" pitchFamily="34" charset="-122"/>
                <a:cs typeface="Calibri" pitchFamily="34" charset="-120"/>
              </a:rPr>
              <a:t>De AI volgt de leidraad van de onderzoeker, maar vraagt dóór op wat de respondent zelf zegt.</a:t>
            </a:r>
            <a:endParaRPr lang="en-US" sz="1600" dirty="0"/>
          </a:p>
          <a:p>
            <a:pPr marL="342900" indent="-342900">
              <a:spcAft>
                <a:spcPts val="1300"/>
              </a:spcAft>
              <a:buSzPct val="100000"/>
              <a:buChar char="–"/>
            </a:pPr>
            <a:r>
              <a:rPr lang="en-US" sz="1600" dirty="0">
                <a:solidFill>
                  <a:srgbClr val="1A1A1A"/>
                </a:solidFill>
                <a:latin typeface="Calibri" pitchFamily="34" charset="0"/>
                <a:ea typeface="Calibri" pitchFamily="34" charset="-122"/>
                <a:cs typeface="Calibri" pitchFamily="34" charset="-120"/>
              </a:rPr>
              <a:t>Iedereen tegelijk, dag en nacht: 4 of 400 interviews maakt niet uit.</a:t>
            </a:r>
            <a:endParaRPr lang="en-US" sz="1600" dirty="0"/>
          </a:p>
          <a:p>
            <a:pPr marL="342900" indent="-342900">
              <a:spcAft>
                <a:spcPts val="1300"/>
              </a:spcAft>
              <a:buSzPct val="100000"/>
              <a:buChar char="–"/>
            </a:pPr>
            <a:r>
              <a:rPr lang="en-US" sz="1600" dirty="0">
                <a:solidFill>
                  <a:srgbClr val="1A1A1A"/>
                </a:solidFill>
                <a:latin typeface="Calibri" pitchFamily="34" charset="0"/>
                <a:ea typeface="Calibri" pitchFamily="34" charset="-122"/>
                <a:cs typeface="Calibri" pitchFamily="34" charset="-120"/>
              </a:rPr>
              <a:t>Elk woord wordt direct vastgelegd — transcriberen bestaat niet meer.</a:t>
            </a:r>
            <a:endParaRPr lang="en-US" sz="1600" dirty="0"/>
          </a:p>
        </p:txBody>
      </p:sp>
      <p:sp>
        <p:nvSpPr>
          <p:cNvPr id="8" name="Shape 5"/>
          <p:cNvSpPr/>
          <p:nvPr/>
        </p:nvSpPr>
        <p:spPr>
          <a:xfrm>
            <a:off x="0" y="6473952"/>
            <a:ext cx="12161520" cy="384048"/>
          </a:xfrm>
          <a:prstGeom prst="rect">
            <a:avLst/>
          </a:prstGeom>
          <a:solidFill>
            <a:srgbClr val="5D7291"/>
          </a:solidFill>
          <a:ln/>
        </p:spPr>
      </p:sp>
      <p:sp>
        <p:nvSpPr>
          <p:cNvPr id="9" name="Text 6"/>
          <p:cNvSpPr/>
          <p:nvPr/>
        </p:nvSpPr>
        <p:spPr>
          <a:xfrm>
            <a:off x="0" y="6473952"/>
            <a:ext cx="12161520" cy="384048"/>
          </a:xfrm>
          <a:prstGeom prst="rect">
            <a:avLst/>
          </a:prstGeom>
          <a:noFill/>
          <a:ln/>
        </p:spPr>
        <p:txBody>
          <a:bodyPr wrap="square" rtlCol="0" anchor="ctr"/>
          <a:lstStyle/>
          <a:p>
            <a:pPr algn="ctr" indent="0" marL="0">
              <a:buNone/>
            </a:pPr>
            <a:r>
              <a:rPr lang="en-US" sz="1000" b="1" spc="400" kern="0" dirty="0">
                <a:solidFill>
                  <a:srgbClr val="FFFFFF"/>
                </a:solidFill>
                <a:latin typeface="Calibri" pitchFamily="34" charset="0"/>
                <a:ea typeface="Calibri" pitchFamily="34" charset="-122"/>
                <a:cs typeface="Calibri" pitchFamily="34" charset="-120"/>
              </a:rPr>
              <a:t>NYENRODE. A REWARD FOR LIFE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80000">
            <a:off x="502920" y="384048"/>
            <a:ext cx="566928" cy="566928"/>
          </a:xfrm>
          <a:prstGeom prst="ellipse">
            <a:avLst/>
          </a:prstGeom>
          <a:solidFill>
            <a:srgbClr val="FBBA20"/>
          </a:solidFill>
          <a:ln/>
        </p:spPr>
      </p:sp>
      <p:sp>
        <p:nvSpPr>
          <p:cNvPr id="3" name="Text 1"/>
          <p:cNvSpPr/>
          <p:nvPr/>
        </p:nvSpPr>
        <p:spPr>
          <a:xfrm>
            <a:off x="502920" y="384048"/>
            <a:ext cx="566928" cy="566928"/>
          </a:xfrm>
          <a:prstGeom prst="rect">
            <a:avLst/>
          </a:prstGeom>
          <a:noFill/>
          <a:ln/>
        </p:spPr>
        <p:txBody>
          <a:bodyPr wrap="square" lIns="0" tIns="0" rIns="0" bIns="0" rtlCol="0" anchor="ctr"/>
          <a:lstStyle/>
          <a:p>
            <a:pPr algn="ctr" indent="0" marL="0">
              <a:buNone/>
            </a:pPr>
            <a:r>
              <a:rPr lang="en-US" sz="2200" b="1" dirty="0">
                <a:solidFill>
                  <a:srgbClr val="355071"/>
                </a:solidFill>
                <a:latin typeface="Calibri" pitchFamily="34" charset="0"/>
                <a:ea typeface="Calibri" pitchFamily="34" charset="-122"/>
                <a:cs typeface="Calibri" pitchFamily="34" charset="-120"/>
              </a:rPr>
              <a:t>2</a:t>
            </a:r>
            <a:endParaRPr lang="en-US" sz="2200" dirty="0"/>
          </a:p>
        </p:txBody>
      </p:sp>
      <p:sp>
        <p:nvSpPr>
          <p:cNvPr id="4" name="Text 2"/>
          <p:cNvSpPr/>
          <p:nvPr/>
        </p:nvSpPr>
        <p:spPr>
          <a:xfrm>
            <a:off x="1280160" y="347472"/>
            <a:ext cx="10332720" cy="640080"/>
          </a:xfrm>
          <a:prstGeom prst="rect">
            <a:avLst/>
          </a:prstGeom>
          <a:noFill/>
          <a:ln/>
        </p:spPr>
        <p:txBody>
          <a:bodyPr wrap="square" lIns="0" tIns="0" rIns="0" bIns="0" rtlCol="0" anchor="ctr"/>
          <a:lstStyle/>
          <a:p>
            <a:pPr indent="0" marL="0">
              <a:buNone/>
            </a:pPr>
            <a:r>
              <a:rPr lang="en-US" sz="2600" b="1" spc="300" kern="0" dirty="0">
                <a:solidFill>
                  <a:srgbClr val="355071"/>
                </a:solidFill>
                <a:latin typeface="Calibri" pitchFamily="34" charset="0"/>
                <a:ea typeface="Calibri" pitchFamily="34" charset="-122"/>
                <a:cs typeface="Calibri" pitchFamily="34" charset="-120"/>
              </a:rPr>
              <a:t>TRANSCRIPTEN STROMEN BINNEN</a:t>
            </a:r>
            <a:endParaRPr lang="en-US" sz="2600" dirty="0"/>
          </a:p>
        </p:txBody>
      </p:sp>
      <p:sp>
        <p:nvSpPr>
          <p:cNvPr id="5" name="Shape 3"/>
          <p:cNvSpPr/>
          <p:nvPr/>
        </p:nvSpPr>
        <p:spPr>
          <a:xfrm>
            <a:off x="4809744" y="1289304"/>
            <a:ext cx="6839712" cy="4302252"/>
          </a:xfrm>
          <a:prstGeom prst="rect">
            <a:avLst/>
          </a:prstGeom>
          <a:solidFill>
            <a:srgbClr val="FFFFFF"/>
          </a:solidFill>
          <a:ln w="15875">
            <a:solidFill>
              <a:srgbClr val="5D7291"/>
            </a:solidFill>
            <a:prstDash val="solid"/>
          </a:ln>
          <a:effectLst>
            <a:outerShdw sx="100000" sy="100000" kx="0" ky="0" algn="bl" rotWithShape="0" blurRad="101600" dist="38100" dir="8100000">
              <a:srgbClr val="355071">
                <a:alpha val="30000"/>
              </a:srgbClr>
            </a:outerShdw>
          </a:effectLst>
        </p:spPr>
      </p:sp>
      <p:pic>
        <p:nvPicPr>
          <p:cNvPr id="6" name="Image 0" descr="/Users/dietervlaminck/Desktop/NBU-research-agent/demo/screenshots/04_dashboard.png">    </p:cNvPr>
          <p:cNvPicPr>
            <a:picLocks noChangeAspect="1"/>
          </p:cNvPicPr>
          <p:nvPr/>
        </p:nvPicPr>
        <p:blipFill>
          <a:blip r:embed="rId1"/>
          <a:stretch>
            <a:fillRect/>
          </a:stretch>
        </p:blipFill>
        <p:spPr>
          <a:xfrm>
            <a:off x="4846320" y="1325880"/>
            <a:ext cx="6766560" cy="4229100"/>
          </a:xfrm>
          <a:prstGeom prst="rect">
            <a:avLst/>
          </a:prstGeom>
        </p:spPr>
      </p:pic>
      <p:sp>
        <p:nvSpPr>
          <p:cNvPr id="7" name="Text 4"/>
          <p:cNvSpPr/>
          <p:nvPr/>
        </p:nvSpPr>
        <p:spPr>
          <a:xfrm>
            <a:off x="502920" y="1417320"/>
            <a:ext cx="4023360" cy="4114800"/>
          </a:xfrm>
          <a:prstGeom prst="rect">
            <a:avLst/>
          </a:prstGeom>
          <a:noFill/>
          <a:ln/>
        </p:spPr>
        <p:txBody>
          <a:bodyPr wrap="square" rtlCol="0" anchor="t"/>
          <a:lstStyle/>
          <a:p>
            <a:pPr marL="342900" indent="-342900">
              <a:spcAft>
                <a:spcPts val="1300"/>
              </a:spcAft>
              <a:buSzPct val="100000"/>
              <a:buChar char="–"/>
            </a:pPr>
            <a:r>
              <a:rPr lang="en-US" sz="1600" dirty="0">
                <a:solidFill>
                  <a:srgbClr val="1A1A1A"/>
                </a:solidFill>
                <a:latin typeface="Calibri" pitchFamily="34" charset="0"/>
                <a:ea typeface="Calibri" pitchFamily="34" charset="-122"/>
                <a:cs typeface="Calibri" pitchFamily="34" charset="-120"/>
              </a:rPr>
              <a:t>Vier afgeronde gesprekken, elk een eigen route: de scepticus kreeg andere vervolgvragen dan de enthousiasteling.</a:t>
            </a:r>
            <a:endParaRPr lang="en-US" sz="1600" dirty="0"/>
          </a:p>
          <a:p>
            <a:pPr marL="342900" indent="-342900">
              <a:spcAft>
                <a:spcPts val="1300"/>
              </a:spcAft>
              <a:buSzPct val="100000"/>
              <a:buChar char="–"/>
            </a:pPr>
            <a:r>
              <a:rPr lang="en-US" sz="1600" dirty="0">
                <a:solidFill>
                  <a:srgbClr val="1A1A1A"/>
                </a:solidFill>
                <a:latin typeface="Calibri" pitchFamily="34" charset="0"/>
                <a:ea typeface="Calibri" pitchFamily="34" charset="-122"/>
                <a:cs typeface="Calibri" pitchFamily="34" charset="-120"/>
              </a:rPr>
              <a:t>Volledige transcripten, netjes per respondent, direct in het dashboard.</a:t>
            </a:r>
            <a:endParaRPr lang="en-US" sz="1600" dirty="0"/>
          </a:p>
          <a:p>
            <a:pPr marL="342900" indent="-342900">
              <a:spcAft>
                <a:spcPts val="1300"/>
              </a:spcAft>
              <a:buSzPct val="100000"/>
              <a:buChar char="–"/>
            </a:pPr>
            <a:r>
              <a:rPr lang="en-US" sz="1600" dirty="0">
                <a:solidFill>
                  <a:srgbClr val="1A1A1A"/>
                </a:solidFill>
                <a:latin typeface="Calibri" pitchFamily="34" charset="0"/>
                <a:ea typeface="Calibri" pitchFamily="34" charset="-122"/>
                <a:cs typeface="Calibri" pitchFamily="34" charset="-120"/>
              </a:rPr>
              <a:t>De onderzoeker leest mee en houdt de regie — stoppen of bijsturen kan altijd.</a:t>
            </a:r>
            <a:endParaRPr lang="en-US" sz="1600" dirty="0"/>
          </a:p>
        </p:txBody>
      </p:sp>
      <p:sp>
        <p:nvSpPr>
          <p:cNvPr id="8" name="Shape 5"/>
          <p:cNvSpPr/>
          <p:nvPr/>
        </p:nvSpPr>
        <p:spPr>
          <a:xfrm>
            <a:off x="0" y="6473952"/>
            <a:ext cx="12161520" cy="384048"/>
          </a:xfrm>
          <a:prstGeom prst="rect">
            <a:avLst/>
          </a:prstGeom>
          <a:solidFill>
            <a:srgbClr val="5D7291"/>
          </a:solidFill>
          <a:ln/>
        </p:spPr>
      </p:sp>
      <p:sp>
        <p:nvSpPr>
          <p:cNvPr id="9" name="Text 6"/>
          <p:cNvSpPr/>
          <p:nvPr/>
        </p:nvSpPr>
        <p:spPr>
          <a:xfrm>
            <a:off x="0" y="6473952"/>
            <a:ext cx="12161520" cy="384048"/>
          </a:xfrm>
          <a:prstGeom prst="rect">
            <a:avLst/>
          </a:prstGeom>
          <a:noFill/>
          <a:ln/>
        </p:spPr>
        <p:txBody>
          <a:bodyPr wrap="square" rtlCol="0" anchor="ctr"/>
          <a:lstStyle/>
          <a:p>
            <a:pPr algn="ctr" indent="0" marL="0">
              <a:buNone/>
            </a:pPr>
            <a:r>
              <a:rPr lang="en-US" sz="1000" b="1" spc="400" kern="0" dirty="0">
                <a:solidFill>
                  <a:srgbClr val="FFFFFF"/>
                </a:solidFill>
                <a:latin typeface="Calibri" pitchFamily="34" charset="0"/>
                <a:ea typeface="Calibri" pitchFamily="34" charset="-122"/>
                <a:cs typeface="Calibri" pitchFamily="34" charset="-120"/>
              </a:rPr>
              <a:t>NYENRODE. A REWARD FOR LIFE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80000">
            <a:off x="502920" y="384048"/>
            <a:ext cx="566928" cy="566928"/>
          </a:xfrm>
          <a:prstGeom prst="ellipse">
            <a:avLst/>
          </a:prstGeom>
          <a:solidFill>
            <a:srgbClr val="FBBA20"/>
          </a:solidFill>
          <a:ln/>
        </p:spPr>
      </p:sp>
      <p:sp>
        <p:nvSpPr>
          <p:cNvPr id="3" name="Text 1"/>
          <p:cNvSpPr/>
          <p:nvPr/>
        </p:nvSpPr>
        <p:spPr>
          <a:xfrm>
            <a:off x="502920" y="384048"/>
            <a:ext cx="566928" cy="566928"/>
          </a:xfrm>
          <a:prstGeom prst="rect">
            <a:avLst/>
          </a:prstGeom>
          <a:noFill/>
          <a:ln/>
        </p:spPr>
        <p:txBody>
          <a:bodyPr wrap="square" lIns="0" tIns="0" rIns="0" bIns="0" rtlCol="0" anchor="ctr"/>
          <a:lstStyle/>
          <a:p>
            <a:pPr algn="ctr" indent="0" marL="0">
              <a:buNone/>
            </a:pPr>
            <a:r>
              <a:rPr lang="en-US" sz="2200" b="1" dirty="0">
                <a:solidFill>
                  <a:srgbClr val="355071"/>
                </a:solidFill>
                <a:latin typeface="Calibri" pitchFamily="34" charset="0"/>
                <a:ea typeface="Calibri" pitchFamily="34" charset="-122"/>
                <a:cs typeface="Calibri" pitchFamily="34" charset="-120"/>
              </a:rPr>
              <a:t>3</a:t>
            </a:r>
            <a:endParaRPr lang="en-US" sz="2200" dirty="0"/>
          </a:p>
        </p:txBody>
      </p:sp>
      <p:sp>
        <p:nvSpPr>
          <p:cNvPr id="4" name="Text 2"/>
          <p:cNvSpPr/>
          <p:nvPr/>
        </p:nvSpPr>
        <p:spPr>
          <a:xfrm>
            <a:off x="1280160" y="347472"/>
            <a:ext cx="10332720" cy="640080"/>
          </a:xfrm>
          <a:prstGeom prst="rect">
            <a:avLst/>
          </a:prstGeom>
          <a:noFill/>
          <a:ln/>
        </p:spPr>
        <p:txBody>
          <a:bodyPr wrap="square" lIns="0" tIns="0" rIns="0" bIns="0" rtlCol="0" anchor="ctr"/>
          <a:lstStyle/>
          <a:p>
            <a:pPr indent="0" marL="0">
              <a:buNone/>
            </a:pPr>
            <a:r>
              <a:rPr lang="en-US" sz="2600" b="1" spc="300" kern="0" dirty="0">
                <a:solidFill>
                  <a:srgbClr val="355071"/>
                </a:solidFill>
                <a:latin typeface="Calibri" pitchFamily="34" charset="0"/>
                <a:ea typeface="Calibri" pitchFamily="34" charset="-122"/>
                <a:cs typeface="Calibri" pitchFamily="34" charset="-120"/>
              </a:rPr>
              <a:t>THEMATISCHE ANALYSE — MET ÉÉN KLIK</a:t>
            </a:r>
            <a:endParaRPr lang="en-US" sz="2600" dirty="0"/>
          </a:p>
        </p:txBody>
      </p:sp>
      <p:sp>
        <p:nvSpPr>
          <p:cNvPr id="5" name="Shape 3"/>
          <p:cNvSpPr/>
          <p:nvPr/>
        </p:nvSpPr>
        <p:spPr>
          <a:xfrm>
            <a:off x="4809744" y="1289304"/>
            <a:ext cx="6839712" cy="4302252"/>
          </a:xfrm>
          <a:prstGeom prst="rect">
            <a:avLst/>
          </a:prstGeom>
          <a:solidFill>
            <a:srgbClr val="FFFFFF"/>
          </a:solidFill>
          <a:ln w="15875">
            <a:solidFill>
              <a:srgbClr val="5D7291"/>
            </a:solidFill>
            <a:prstDash val="solid"/>
          </a:ln>
          <a:effectLst>
            <a:outerShdw sx="100000" sy="100000" kx="0" ky="0" algn="bl" rotWithShape="0" blurRad="101600" dist="38100" dir="8100000">
              <a:srgbClr val="355071">
                <a:alpha val="30000"/>
              </a:srgbClr>
            </a:outerShdw>
          </a:effectLst>
        </p:spPr>
      </p:sp>
      <p:pic>
        <p:nvPicPr>
          <p:cNvPr id="6" name="Image 0" descr="/Users/dietervlaminck/Desktop/NBU-research-agent/demo/screenshots/05b_analysis_theme.png">    </p:cNvPr>
          <p:cNvPicPr>
            <a:picLocks noChangeAspect="1"/>
          </p:cNvPicPr>
          <p:nvPr/>
        </p:nvPicPr>
        <p:blipFill>
          <a:blip r:embed="rId1"/>
          <a:stretch>
            <a:fillRect/>
          </a:stretch>
        </p:blipFill>
        <p:spPr>
          <a:xfrm>
            <a:off x="4846320" y="1325880"/>
            <a:ext cx="6766560" cy="4229100"/>
          </a:xfrm>
          <a:prstGeom prst="rect">
            <a:avLst/>
          </a:prstGeom>
        </p:spPr>
      </p:pic>
      <p:sp>
        <p:nvSpPr>
          <p:cNvPr id="7" name="Text 4"/>
          <p:cNvSpPr/>
          <p:nvPr/>
        </p:nvSpPr>
        <p:spPr>
          <a:xfrm>
            <a:off x="502920" y="1417320"/>
            <a:ext cx="4023360" cy="2468880"/>
          </a:xfrm>
          <a:prstGeom prst="rect">
            <a:avLst/>
          </a:prstGeom>
          <a:noFill/>
          <a:ln/>
        </p:spPr>
        <p:txBody>
          <a:bodyPr wrap="square" rtlCol="0" anchor="t"/>
          <a:lstStyle/>
          <a:p>
            <a:pPr marL="342900" indent="-342900">
              <a:spcAft>
                <a:spcPts val="1300"/>
              </a:spcAft>
              <a:buSzPct val="100000"/>
              <a:buChar char="–"/>
            </a:pPr>
            <a:r>
              <a:rPr lang="en-US" sz="1600" dirty="0">
                <a:solidFill>
                  <a:srgbClr val="1A1A1A"/>
                </a:solidFill>
                <a:latin typeface="Calibri" pitchFamily="34" charset="0"/>
                <a:ea typeface="Calibri" pitchFamily="34" charset="-122"/>
                <a:cs typeface="Calibri" pitchFamily="34" charset="-120"/>
              </a:rPr>
              <a:t>De agent ontwikkelt een codeboek uit de data zelf — 34 codes onder 9 thema's.</a:t>
            </a:r>
            <a:endParaRPr lang="en-US" sz="1600" dirty="0"/>
          </a:p>
          <a:p>
            <a:pPr marL="342900" indent="-342900">
              <a:spcAft>
                <a:spcPts val="1300"/>
              </a:spcAft>
              <a:buSzPct val="100000"/>
              <a:buChar char="–"/>
            </a:pPr>
            <a:r>
              <a:rPr lang="en-US" sz="1600" dirty="0">
                <a:solidFill>
                  <a:srgbClr val="1A1A1A"/>
                </a:solidFill>
                <a:latin typeface="Calibri" pitchFamily="34" charset="0"/>
                <a:ea typeface="Calibri" pitchFamily="34" charset="-122"/>
                <a:cs typeface="Calibri" pitchFamily="34" charset="-120"/>
              </a:rPr>
              <a:t>77 citaten gecodeerd, woordelijk en navolgbaar.</a:t>
            </a:r>
            <a:endParaRPr lang="en-US" sz="1600" dirty="0"/>
          </a:p>
          <a:p>
            <a:pPr marL="342900" indent="-342900">
              <a:spcAft>
                <a:spcPts val="1300"/>
              </a:spcAft>
              <a:buSzPct val="100000"/>
              <a:buChar char="–"/>
            </a:pPr>
            <a:r>
              <a:rPr lang="en-US" sz="1600" dirty="0">
                <a:solidFill>
                  <a:srgbClr val="1A1A1A"/>
                </a:solidFill>
                <a:latin typeface="Calibri" pitchFamily="34" charset="0"/>
                <a:ea typeface="Calibri" pitchFamily="34" charset="-122"/>
                <a:cs typeface="Calibri" pitchFamily="34" charset="-120"/>
              </a:rPr>
              <a:t>Compleet thematisch rapport, inclusief methodologische kanttekeningen (n=4!).</a:t>
            </a:r>
            <a:endParaRPr lang="en-US" sz="1600" dirty="0"/>
          </a:p>
        </p:txBody>
      </p:sp>
      <p:sp>
        <p:nvSpPr>
          <p:cNvPr id="8" name="Shape 5"/>
          <p:cNvSpPr/>
          <p:nvPr/>
        </p:nvSpPr>
        <p:spPr>
          <a:xfrm>
            <a:off x="502920" y="4069080"/>
            <a:ext cx="3794760" cy="1234440"/>
          </a:xfrm>
          <a:prstGeom prst="rect">
            <a:avLst/>
          </a:prstGeom>
          <a:solidFill>
            <a:srgbClr val="F0F2F5"/>
          </a:solidFill>
          <a:ln/>
        </p:spPr>
      </p:sp>
      <p:sp>
        <p:nvSpPr>
          <p:cNvPr id="9" name="Text 6"/>
          <p:cNvSpPr/>
          <p:nvPr/>
        </p:nvSpPr>
        <p:spPr>
          <a:xfrm>
            <a:off x="685800" y="4206240"/>
            <a:ext cx="3429000" cy="960120"/>
          </a:xfrm>
          <a:prstGeom prst="rect">
            <a:avLst/>
          </a:prstGeom>
          <a:noFill/>
          <a:ln/>
        </p:spPr>
        <p:txBody>
          <a:bodyPr wrap="square" rtlCol="0" anchor="ctr"/>
          <a:lstStyle/>
          <a:p>
            <a:pPr indent="0" marL="0">
              <a:buNone/>
            </a:pPr>
            <a:r>
              <a:rPr lang="en-US" sz="1700" b="1" dirty="0">
                <a:solidFill>
                  <a:srgbClr val="355071"/>
                </a:solidFill>
                <a:latin typeface="Calibri" pitchFamily="34" charset="0"/>
                <a:ea typeface="Calibri" pitchFamily="34" charset="-122"/>
                <a:cs typeface="Calibri" pitchFamily="34" charset="-120"/>
              </a:rPr>
              <a:t>34 codes  ·  9 thema's  ·  77 citaten</a:t>
            </a:r>
            <a:endParaRPr lang="en-US" sz="1700" dirty="0"/>
          </a:p>
          <a:p>
            <a:pPr indent="0" marL="0">
              <a:buNone/>
            </a:pPr>
            <a:r>
              <a:rPr lang="en-US" sz="1300" i="1" dirty="0">
                <a:solidFill>
                  <a:srgbClr val="7C909B"/>
                </a:solidFill>
                <a:latin typeface="Calibri" pitchFamily="34" charset="0"/>
                <a:ea typeface="Calibri" pitchFamily="34" charset="-122"/>
                <a:cs typeface="Calibri" pitchFamily="34" charset="-120"/>
              </a:rPr>
              <a:t>geanalyseerd in ± 3 minuten rekentijd</a:t>
            </a:r>
            <a:endParaRPr lang="en-US" sz="1700" dirty="0"/>
          </a:p>
        </p:txBody>
      </p:sp>
      <p:sp>
        <p:nvSpPr>
          <p:cNvPr id="10" name="Shape 7"/>
          <p:cNvSpPr/>
          <p:nvPr/>
        </p:nvSpPr>
        <p:spPr>
          <a:xfrm>
            <a:off x="0" y="6473952"/>
            <a:ext cx="12161520" cy="384048"/>
          </a:xfrm>
          <a:prstGeom prst="rect">
            <a:avLst/>
          </a:prstGeom>
          <a:solidFill>
            <a:srgbClr val="5D7291"/>
          </a:solidFill>
          <a:ln/>
        </p:spPr>
      </p:sp>
      <p:sp>
        <p:nvSpPr>
          <p:cNvPr id="11" name="Text 8"/>
          <p:cNvSpPr/>
          <p:nvPr/>
        </p:nvSpPr>
        <p:spPr>
          <a:xfrm>
            <a:off x="0" y="6473952"/>
            <a:ext cx="12161520" cy="384048"/>
          </a:xfrm>
          <a:prstGeom prst="rect">
            <a:avLst/>
          </a:prstGeom>
          <a:noFill/>
          <a:ln/>
        </p:spPr>
        <p:txBody>
          <a:bodyPr wrap="square" rtlCol="0" anchor="ctr"/>
          <a:lstStyle/>
          <a:p>
            <a:pPr algn="ctr" indent="0" marL="0">
              <a:buNone/>
            </a:pPr>
            <a:r>
              <a:rPr lang="en-US" sz="1000" b="1" spc="400" kern="0" dirty="0">
                <a:solidFill>
                  <a:srgbClr val="FFFFFF"/>
                </a:solidFill>
                <a:latin typeface="Calibri" pitchFamily="34" charset="0"/>
                <a:ea typeface="Calibri" pitchFamily="34" charset="-122"/>
                <a:cs typeface="Calibri" pitchFamily="34" charset="-120"/>
              </a:rPr>
              <a:t>NYENRODE. A REWARD FOR LIFE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55071"/>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FBBA20"/>
          </a:solidFill>
          <a:ln/>
        </p:spPr>
      </p:sp>
      <p:sp>
        <p:nvSpPr>
          <p:cNvPr id="3" name="Text 1"/>
          <p:cNvSpPr/>
          <p:nvPr/>
        </p:nvSpPr>
        <p:spPr>
          <a:xfrm>
            <a:off x="1188720" y="1828800"/>
            <a:ext cx="9784080" cy="1737360"/>
          </a:xfrm>
          <a:prstGeom prst="rect">
            <a:avLst/>
          </a:prstGeom>
          <a:noFill/>
          <a:ln/>
        </p:spPr>
        <p:txBody>
          <a:bodyPr wrap="square" rtlCol="0" anchor="ctr"/>
          <a:lstStyle/>
          <a:p>
            <a:pPr algn="ctr" indent="0" marL="0">
              <a:buNone/>
            </a:pPr>
            <a:r>
              <a:rPr lang="en-US" sz="3000" b="1" i="1" spc="200" kern="0" dirty="0">
                <a:solidFill>
                  <a:srgbClr val="FFFFFF"/>
                </a:solidFill>
                <a:latin typeface="Calibri" pitchFamily="34" charset="0"/>
                <a:ea typeface="Calibri" pitchFamily="34" charset="-122"/>
                <a:cs typeface="Calibri" pitchFamily="34" charset="-120"/>
              </a:rPr>
              <a:t>“ADOPTION IS REAL BUT UNEVEN, AMBIVALENT, AND LARGELY IMPROVISED.”</a:t>
            </a:r>
            <a:endParaRPr lang="en-US" sz="3000" dirty="0"/>
          </a:p>
        </p:txBody>
      </p:sp>
      <p:sp>
        <p:nvSpPr>
          <p:cNvPr id="4" name="Text 2"/>
          <p:cNvSpPr/>
          <p:nvPr/>
        </p:nvSpPr>
        <p:spPr>
          <a:xfrm>
            <a:off x="1188720" y="3703320"/>
            <a:ext cx="9784080" cy="365760"/>
          </a:xfrm>
          <a:prstGeom prst="rect">
            <a:avLst/>
          </a:prstGeom>
          <a:noFill/>
          <a:ln/>
        </p:spPr>
        <p:txBody>
          <a:bodyPr wrap="square" rtlCol="0" anchor="ctr"/>
          <a:lstStyle/>
          <a:p>
            <a:pPr algn="ctr" indent="0" marL="0">
              <a:buNone/>
            </a:pPr>
            <a:r>
              <a:rPr lang="en-US" sz="1400" dirty="0">
                <a:solidFill>
                  <a:srgbClr val="C8D3D9"/>
                </a:solidFill>
                <a:latin typeface="Calibri" pitchFamily="34" charset="0"/>
                <a:ea typeface="Calibri" pitchFamily="34" charset="-122"/>
                <a:cs typeface="Calibri" pitchFamily="34" charset="-120"/>
              </a:rPr>
              <a:t>— conclusie van het thematisch rapport, geschreven door de agent</a:t>
            </a:r>
            <a:endParaRPr lang="en-US" sz="1400" dirty="0"/>
          </a:p>
        </p:txBody>
      </p:sp>
      <p:sp>
        <p:nvSpPr>
          <p:cNvPr id="5" name="Shape 3"/>
          <p:cNvSpPr/>
          <p:nvPr/>
        </p:nvSpPr>
        <p:spPr>
          <a:xfrm>
            <a:off x="914400" y="4709160"/>
            <a:ext cx="3200400" cy="914400"/>
          </a:xfrm>
          <a:prstGeom prst="rect">
            <a:avLst/>
          </a:prstGeom>
          <a:solidFill>
            <a:srgbClr val="5D7291"/>
          </a:solidFill>
          <a:ln w="9525">
            <a:solidFill>
              <a:srgbClr val="C8D3D9"/>
            </a:solidFill>
            <a:prstDash val="solid"/>
          </a:ln>
        </p:spPr>
      </p:sp>
      <p:sp>
        <p:nvSpPr>
          <p:cNvPr id="6" name="Text 4"/>
          <p:cNvSpPr/>
          <p:nvPr/>
        </p:nvSpPr>
        <p:spPr>
          <a:xfrm>
            <a:off x="1051560" y="4709160"/>
            <a:ext cx="2926080" cy="91440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AI als voorbereidings-motor</a:t>
            </a:r>
            <a:endParaRPr lang="en-US" sz="1400" dirty="0"/>
          </a:p>
        </p:txBody>
      </p:sp>
      <p:sp>
        <p:nvSpPr>
          <p:cNvPr id="7" name="Shape 5"/>
          <p:cNvSpPr/>
          <p:nvPr/>
        </p:nvSpPr>
        <p:spPr>
          <a:xfrm>
            <a:off x="4480560" y="4709160"/>
            <a:ext cx="3200400" cy="914400"/>
          </a:xfrm>
          <a:prstGeom prst="rect">
            <a:avLst/>
          </a:prstGeom>
          <a:solidFill>
            <a:srgbClr val="5D7291"/>
          </a:solidFill>
          <a:ln w="9525">
            <a:solidFill>
              <a:srgbClr val="C8D3D9"/>
            </a:solidFill>
            <a:prstDash val="solid"/>
          </a:ln>
        </p:spPr>
      </p:sp>
      <p:sp>
        <p:nvSpPr>
          <p:cNvPr id="8" name="Text 6"/>
          <p:cNvSpPr/>
          <p:nvPr/>
        </p:nvSpPr>
        <p:spPr>
          <a:xfrm>
            <a:off x="4617720" y="4709160"/>
            <a:ext cx="2926080" cy="91440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angst voor 'uitbesteed worstelen'</a:t>
            </a:r>
            <a:endParaRPr lang="en-US" sz="1400" dirty="0"/>
          </a:p>
        </p:txBody>
      </p:sp>
      <p:sp>
        <p:nvSpPr>
          <p:cNvPr id="9" name="Shape 7"/>
          <p:cNvSpPr/>
          <p:nvPr/>
        </p:nvSpPr>
        <p:spPr>
          <a:xfrm>
            <a:off x="8046720" y="4709160"/>
            <a:ext cx="3200400" cy="914400"/>
          </a:xfrm>
          <a:prstGeom prst="rect">
            <a:avLst/>
          </a:prstGeom>
          <a:solidFill>
            <a:srgbClr val="5D7291"/>
          </a:solidFill>
          <a:ln w="9525">
            <a:solidFill>
              <a:srgbClr val="C8D3D9"/>
            </a:solidFill>
            <a:prstDash val="solid"/>
          </a:ln>
        </p:spPr>
      </p:sp>
      <p:sp>
        <p:nvSpPr>
          <p:cNvPr id="10" name="Text 8"/>
          <p:cNvSpPr/>
          <p:nvPr/>
        </p:nvSpPr>
        <p:spPr>
          <a:xfrm>
            <a:off x="8183880" y="4709160"/>
            <a:ext cx="2926080" cy="91440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roep om duidelijk beleid</a:t>
            </a:r>
            <a:endParaRPr lang="en-US" sz="1400" dirty="0"/>
          </a:p>
        </p:txBody>
      </p:sp>
      <p:sp>
        <p:nvSpPr>
          <p:cNvPr id="11" name="Shape 9"/>
          <p:cNvSpPr/>
          <p:nvPr/>
        </p:nvSpPr>
        <p:spPr>
          <a:xfrm>
            <a:off x="0" y="6473952"/>
            <a:ext cx="12161520" cy="384048"/>
          </a:xfrm>
          <a:prstGeom prst="rect">
            <a:avLst/>
          </a:prstGeom>
          <a:solidFill>
            <a:srgbClr val="5D7291"/>
          </a:solidFill>
          <a:ln/>
        </p:spPr>
      </p:sp>
      <p:sp>
        <p:nvSpPr>
          <p:cNvPr id="12" name="Text 10"/>
          <p:cNvSpPr/>
          <p:nvPr/>
        </p:nvSpPr>
        <p:spPr>
          <a:xfrm>
            <a:off x="0" y="6473952"/>
            <a:ext cx="12161520" cy="384048"/>
          </a:xfrm>
          <a:prstGeom prst="rect">
            <a:avLst/>
          </a:prstGeom>
          <a:noFill/>
          <a:ln/>
        </p:spPr>
        <p:txBody>
          <a:bodyPr wrap="square" rtlCol="0" anchor="ctr"/>
          <a:lstStyle/>
          <a:p>
            <a:pPr algn="ctr" indent="0" marL="0">
              <a:buNone/>
            </a:pPr>
            <a:r>
              <a:rPr lang="en-US" sz="1000" b="1" spc="400" kern="0" dirty="0">
                <a:solidFill>
                  <a:srgbClr val="FFFFFF"/>
                </a:solidFill>
                <a:latin typeface="Calibri" pitchFamily="34" charset="0"/>
                <a:ea typeface="Calibri" pitchFamily="34" charset="-122"/>
                <a:cs typeface="Calibri" pitchFamily="34" charset="-120"/>
              </a:rPr>
              <a:t>NYENRODE. A REWARD FOR LIFE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80000">
            <a:off x="502920" y="384048"/>
            <a:ext cx="566928" cy="566928"/>
          </a:xfrm>
          <a:prstGeom prst="ellipse">
            <a:avLst/>
          </a:prstGeom>
          <a:solidFill>
            <a:srgbClr val="FBBA20"/>
          </a:solidFill>
          <a:ln/>
        </p:spPr>
      </p:sp>
      <p:sp>
        <p:nvSpPr>
          <p:cNvPr id="3" name="Text 1"/>
          <p:cNvSpPr/>
          <p:nvPr/>
        </p:nvSpPr>
        <p:spPr>
          <a:xfrm>
            <a:off x="502920" y="384048"/>
            <a:ext cx="566928" cy="566928"/>
          </a:xfrm>
          <a:prstGeom prst="rect">
            <a:avLst/>
          </a:prstGeom>
          <a:noFill/>
          <a:ln/>
        </p:spPr>
        <p:txBody>
          <a:bodyPr wrap="square" lIns="0" tIns="0" rIns="0" bIns="0" rtlCol="0" anchor="ctr"/>
          <a:lstStyle/>
          <a:p>
            <a:pPr algn="ctr" indent="0" marL="0">
              <a:buNone/>
            </a:pPr>
            <a:r>
              <a:rPr lang="en-US" sz="2200" b="1" dirty="0">
                <a:solidFill>
                  <a:srgbClr val="355071"/>
                </a:solidFill>
                <a:latin typeface="Calibri" pitchFamily="34" charset="0"/>
                <a:ea typeface="Calibri" pitchFamily="34" charset="-122"/>
                <a:cs typeface="Calibri" pitchFamily="34" charset="-120"/>
              </a:rPr>
              <a:t>4</a:t>
            </a:r>
            <a:endParaRPr lang="en-US" sz="2200" dirty="0"/>
          </a:p>
        </p:txBody>
      </p:sp>
      <p:sp>
        <p:nvSpPr>
          <p:cNvPr id="4" name="Text 2"/>
          <p:cNvSpPr/>
          <p:nvPr/>
        </p:nvSpPr>
        <p:spPr>
          <a:xfrm>
            <a:off x="1280160" y="347472"/>
            <a:ext cx="10332720" cy="640080"/>
          </a:xfrm>
          <a:prstGeom prst="rect">
            <a:avLst/>
          </a:prstGeom>
          <a:noFill/>
          <a:ln/>
        </p:spPr>
        <p:txBody>
          <a:bodyPr wrap="square" lIns="0" tIns="0" rIns="0" bIns="0" rtlCol="0" anchor="ctr"/>
          <a:lstStyle/>
          <a:p>
            <a:pPr indent="0" marL="0">
              <a:buNone/>
            </a:pPr>
            <a:r>
              <a:rPr lang="en-US" sz="2600" b="1" spc="300" kern="0" dirty="0">
                <a:solidFill>
                  <a:srgbClr val="355071"/>
                </a:solidFill>
                <a:latin typeface="Calibri" pitchFamily="34" charset="0"/>
                <a:ea typeface="Calibri" pitchFamily="34" charset="-122"/>
                <a:cs typeface="Calibri" pitchFamily="34" charset="-120"/>
              </a:rPr>
              <a:t>VERDER IN JE EIGEN TOOLS</a:t>
            </a:r>
            <a:endParaRPr lang="en-US" sz="2600" dirty="0"/>
          </a:p>
        </p:txBody>
      </p:sp>
      <p:sp>
        <p:nvSpPr>
          <p:cNvPr id="5" name="Shape 3"/>
          <p:cNvSpPr/>
          <p:nvPr/>
        </p:nvSpPr>
        <p:spPr>
          <a:xfrm>
            <a:off x="4809744" y="1289304"/>
            <a:ext cx="6839712" cy="4302252"/>
          </a:xfrm>
          <a:prstGeom prst="rect">
            <a:avLst/>
          </a:prstGeom>
          <a:solidFill>
            <a:srgbClr val="FFFFFF"/>
          </a:solidFill>
          <a:ln w="15875">
            <a:solidFill>
              <a:srgbClr val="5D7291"/>
            </a:solidFill>
            <a:prstDash val="solid"/>
          </a:ln>
          <a:effectLst>
            <a:outerShdw sx="100000" sy="100000" kx="0" ky="0" algn="bl" rotWithShape="0" blurRad="101600" dist="38100" dir="8100000">
              <a:srgbClr val="355071">
                <a:alpha val="30000"/>
              </a:srgbClr>
            </a:outerShdw>
          </a:effectLst>
        </p:spPr>
      </p:sp>
      <p:pic>
        <p:nvPicPr>
          <p:cNvPr id="6" name="Image 0" descr="/Users/dietervlaminck/Desktop/NBU-research-agent/demo/screenshots/06_exports.png">    </p:cNvPr>
          <p:cNvPicPr>
            <a:picLocks noChangeAspect="1"/>
          </p:cNvPicPr>
          <p:nvPr/>
        </p:nvPicPr>
        <p:blipFill>
          <a:blip r:embed="rId1"/>
          <a:stretch>
            <a:fillRect/>
          </a:stretch>
        </p:blipFill>
        <p:spPr>
          <a:xfrm>
            <a:off x="4846320" y="1325880"/>
            <a:ext cx="6766560" cy="4229100"/>
          </a:xfrm>
          <a:prstGeom prst="rect">
            <a:avLst/>
          </a:prstGeom>
        </p:spPr>
      </p:pic>
      <p:sp>
        <p:nvSpPr>
          <p:cNvPr id="7" name="Text 4"/>
          <p:cNvSpPr/>
          <p:nvPr/>
        </p:nvSpPr>
        <p:spPr>
          <a:xfrm>
            <a:off x="502920" y="1417320"/>
            <a:ext cx="4023360" cy="4114800"/>
          </a:xfrm>
          <a:prstGeom prst="rect">
            <a:avLst/>
          </a:prstGeom>
          <a:noFill/>
          <a:ln/>
        </p:spPr>
        <p:txBody>
          <a:bodyPr wrap="square" rtlCol="0" anchor="t"/>
          <a:lstStyle/>
          <a:p>
            <a:pPr marL="342900" indent="-342900">
              <a:spcAft>
                <a:spcPts val="1300"/>
              </a:spcAft>
              <a:buSzPct val="100000"/>
              <a:buChar char="–"/>
            </a:pPr>
            <a:r>
              <a:rPr lang="en-US" sz="1600" dirty="0">
                <a:solidFill>
                  <a:srgbClr val="1A1A1A"/>
                </a:solidFill>
                <a:latin typeface="Calibri" pitchFamily="34" charset="0"/>
                <a:ea typeface="Calibri" pitchFamily="34" charset="-122"/>
                <a:cs typeface="Calibri" pitchFamily="34" charset="-120"/>
              </a:rPr>
              <a:t>Gecodeerde data → Atlas.ti, NVivo of MAXQDA (REFI-QDA-standaard): zelf verder coderen.</a:t>
            </a:r>
            <a:endParaRPr lang="en-US" sz="1600" dirty="0"/>
          </a:p>
          <a:p>
            <a:pPr marL="342900" indent="-342900">
              <a:spcAft>
                <a:spcPts val="1300"/>
              </a:spcAft>
              <a:buSzPct val="100000"/>
              <a:buChar char="–"/>
            </a:pPr>
            <a:r>
              <a:rPr lang="en-US" sz="1600" dirty="0">
                <a:solidFill>
                  <a:srgbClr val="1A1A1A"/>
                </a:solidFill>
                <a:latin typeface="Calibri" pitchFamily="34" charset="0"/>
                <a:ea typeface="Calibri" pitchFamily="34" charset="-122"/>
                <a:cs typeface="Calibri" pitchFamily="34" charset="-120"/>
              </a:rPr>
              <a:t>Surveydata → SPSS (.sav) of Qualtrics; transcripten → Word.</a:t>
            </a:r>
            <a:endParaRPr lang="en-US" sz="1600" dirty="0"/>
          </a:p>
          <a:p>
            <a:pPr marL="342900" indent="-342900">
              <a:spcAft>
                <a:spcPts val="1300"/>
              </a:spcAft>
              <a:buSzPct val="100000"/>
              <a:buChar char="–"/>
            </a:pPr>
            <a:r>
              <a:rPr lang="en-US" sz="1600" dirty="0">
                <a:solidFill>
                  <a:srgbClr val="1A1A1A"/>
                </a:solidFill>
                <a:latin typeface="Calibri" pitchFamily="34" charset="0"/>
                <a:ea typeface="Calibri" pitchFamily="34" charset="-122"/>
                <a:cs typeface="Calibri" pitchFamily="34" charset="-120"/>
              </a:rPr>
              <a:t>De AI doet het voorwerk — jij blijft de wetenschapper.</a:t>
            </a:r>
            <a:endParaRPr lang="en-US" sz="1600" dirty="0"/>
          </a:p>
        </p:txBody>
      </p:sp>
      <p:sp>
        <p:nvSpPr>
          <p:cNvPr id="8" name="Shape 5"/>
          <p:cNvSpPr/>
          <p:nvPr/>
        </p:nvSpPr>
        <p:spPr>
          <a:xfrm>
            <a:off x="0" y="6473952"/>
            <a:ext cx="12161520" cy="384048"/>
          </a:xfrm>
          <a:prstGeom prst="rect">
            <a:avLst/>
          </a:prstGeom>
          <a:solidFill>
            <a:srgbClr val="5D7291"/>
          </a:solidFill>
          <a:ln/>
        </p:spPr>
      </p:sp>
      <p:sp>
        <p:nvSpPr>
          <p:cNvPr id="9" name="Text 6"/>
          <p:cNvSpPr/>
          <p:nvPr/>
        </p:nvSpPr>
        <p:spPr>
          <a:xfrm>
            <a:off x="0" y="6473952"/>
            <a:ext cx="12161520" cy="384048"/>
          </a:xfrm>
          <a:prstGeom prst="rect">
            <a:avLst/>
          </a:prstGeom>
          <a:noFill/>
          <a:ln/>
        </p:spPr>
        <p:txBody>
          <a:bodyPr wrap="square" rtlCol="0" anchor="ctr"/>
          <a:lstStyle/>
          <a:p>
            <a:pPr algn="ctr" indent="0" marL="0">
              <a:buNone/>
            </a:pPr>
            <a:r>
              <a:rPr lang="en-US" sz="1000" b="1" spc="400" kern="0" dirty="0">
                <a:solidFill>
                  <a:srgbClr val="FFFFFF"/>
                </a:solidFill>
                <a:latin typeface="Calibri" pitchFamily="34" charset="0"/>
                <a:ea typeface="Calibri" pitchFamily="34" charset="-122"/>
                <a:cs typeface="Calibri" pitchFamily="34" charset="-120"/>
              </a:rPr>
              <a:t>NYENRODE. A REWARD FOR LIFE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640080"/>
          </a:xfrm>
          <a:prstGeom prst="rect">
            <a:avLst/>
          </a:prstGeom>
          <a:noFill/>
          <a:ln/>
        </p:spPr>
        <p:txBody>
          <a:bodyPr wrap="square" lIns="0" tIns="0" rIns="0" bIns="0" rtlCol="0" anchor="ctr"/>
          <a:lstStyle/>
          <a:p>
            <a:pPr indent="0" marL="0">
              <a:buNone/>
            </a:pPr>
            <a:r>
              <a:rPr lang="en-US" sz="2600" b="1" spc="300" kern="0" dirty="0">
                <a:solidFill>
                  <a:srgbClr val="355071"/>
                </a:solidFill>
                <a:latin typeface="Calibri" pitchFamily="34" charset="0"/>
                <a:ea typeface="Calibri" pitchFamily="34" charset="-122"/>
                <a:cs typeface="Calibri" pitchFamily="34" charset="-120"/>
              </a:rPr>
              <a:t>WAT DIT BETEKENT</a:t>
            </a:r>
            <a:endParaRPr lang="en-US" sz="2600" dirty="0"/>
          </a:p>
        </p:txBody>
      </p:sp>
      <p:sp>
        <p:nvSpPr>
          <p:cNvPr id="3" name="Shape 1"/>
          <p:cNvSpPr/>
          <p:nvPr/>
        </p:nvSpPr>
        <p:spPr>
          <a:xfrm>
            <a:off x="502920" y="1463040"/>
            <a:ext cx="3474720" cy="3566160"/>
          </a:xfrm>
          <a:prstGeom prst="rect">
            <a:avLst/>
          </a:prstGeom>
          <a:solidFill>
            <a:srgbClr val="F0F2F5"/>
          </a:solidFill>
          <a:ln/>
        </p:spPr>
      </p:sp>
      <p:sp>
        <p:nvSpPr>
          <p:cNvPr id="4" name="Shape 2"/>
          <p:cNvSpPr/>
          <p:nvPr/>
        </p:nvSpPr>
        <p:spPr>
          <a:xfrm>
            <a:off x="502920" y="1463040"/>
            <a:ext cx="3474720" cy="109728"/>
          </a:xfrm>
          <a:prstGeom prst="rect">
            <a:avLst/>
          </a:prstGeom>
          <a:solidFill>
            <a:srgbClr val="5D7291"/>
          </a:solidFill>
          <a:ln/>
        </p:spPr>
      </p:sp>
      <p:sp>
        <p:nvSpPr>
          <p:cNvPr id="5" name="Text 3"/>
          <p:cNvSpPr/>
          <p:nvPr/>
        </p:nvSpPr>
        <p:spPr>
          <a:xfrm>
            <a:off x="731520" y="1783080"/>
            <a:ext cx="3017520" cy="868680"/>
          </a:xfrm>
          <a:prstGeom prst="rect">
            <a:avLst/>
          </a:prstGeom>
          <a:noFill/>
          <a:ln/>
        </p:spPr>
        <p:txBody>
          <a:bodyPr wrap="square" rtlCol="0" anchor="t"/>
          <a:lstStyle/>
          <a:p>
            <a:pPr indent="0" marL="0">
              <a:buNone/>
            </a:pPr>
            <a:r>
              <a:rPr lang="en-US" sz="1700" b="1" spc="100" kern="0" dirty="0">
                <a:solidFill>
                  <a:srgbClr val="355071"/>
                </a:solidFill>
                <a:latin typeface="Calibri" pitchFamily="34" charset="0"/>
                <a:ea typeface="Calibri" pitchFamily="34" charset="-122"/>
                <a:cs typeface="Calibri" pitchFamily="34" charset="-120"/>
              </a:rPr>
              <a:t>WEKEN → MINUTEN</a:t>
            </a:r>
            <a:endParaRPr lang="en-US" sz="1700" dirty="0"/>
          </a:p>
        </p:txBody>
      </p:sp>
      <p:sp>
        <p:nvSpPr>
          <p:cNvPr id="6" name="Text 4"/>
          <p:cNvSpPr/>
          <p:nvPr/>
        </p:nvSpPr>
        <p:spPr>
          <a:xfrm>
            <a:off x="731520" y="2697480"/>
            <a:ext cx="3017520" cy="2194560"/>
          </a:xfrm>
          <a:prstGeom prst="rect">
            <a:avLst/>
          </a:prstGeom>
          <a:noFill/>
          <a:ln/>
        </p:spPr>
        <p:txBody>
          <a:bodyPr wrap="square" rtlCol="0" anchor="ctr"/>
          <a:lstStyle/>
          <a:p>
            <a:pPr indent="0" marL="0">
              <a:buNone/>
            </a:pPr>
            <a:r>
              <a:rPr lang="en-US" sz="1550" dirty="0">
                <a:solidFill>
                  <a:srgbClr val="1A1A1A"/>
                </a:solidFill>
                <a:latin typeface="Calibri" pitchFamily="34" charset="0"/>
                <a:ea typeface="Calibri" pitchFamily="34" charset="-122"/>
                <a:cs typeface="Calibri" pitchFamily="34" charset="-120"/>
              </a:rPr>
              <a:t>Werven, interviewen, transcriberen en coderen verschuift van doorlooptijd naar rekentijd.</a:t>
            </a:r>
            <a:endParaRPr lang="en-US" sz="1550" dirty="0"/>
          </a:p>
        </p:txBody>
      </p:sp>
      <p:sp>
        <p:nvSpPr>
          <p:cNvPr id="7" name="Shape 5"/>
          <p:cNvSpPr/>
          <p:nvPr/>
        </p:nvSpPr>
        <p:spPr>
          <a:xfrm>
            <a:off x="4343400" y="1463040"/>
            <a:ext cx="3474720" cy="3566160"/>
          </a:xfrm>
          <a:prstGeom prst="rect">
            <a:avLst/>
          </a:prstGeom>
          <a:solidFill>
            <a:srgbClr val="F0F2F5"/>
          </a:solidFill>
          <a:ln/>
        </p:spPr>
      </p:sp>
      <p:sp>
        <p:nvSpPr>
          <p:cNvPr id="8" name="Shape 6"/>
          <p:cNvSpPr/>
          <p:nvPr/>
        </p:nvSpPr>
        <p:spPr>
          <a:xfrm>
            <a:off x="4343400" y="1463040"/>
            <a:ext cx="3474720" cy="109728"/>
          </a:xfrm>
          <a:prstGeom prst="rect">
            <a:avLst/>
          </a:prstGeom>
          <a:solidFill>
            <a:srgbClr val="FBBA20"/>
          </a:solidFill>
          <a:ln/>
        </p:spPr>
      </p:sp>
      <p:sp>
        <p:nvSpPr>
          <p:cNvPr id="9" name="Text 7"/>
          <p:cNvSpPr/>
          <p:nvPr/>
        </p:nvSpPr>
        <p:spPr>
          <a:xfrm>
            <a:off x="4572000" y="1783080"/>
            <a:ext cx="3017520" cy="868680"/>
          </a:xfrm>
          <a:prstGeom prst="rect">
            <a:avLst/>
          </a:prstGeom>
          <a:noFill/>
          <a:ln/>
        </p:spPr>
        <p:txBody>
          <a:bodyPr wrap="square" rtlCol="0" anchor="t"/>
          <a:lstStyle/>
          <a:p>
            <a:pPr indent="0" marL="0">
              <a:buNone/>
            </a:pPr>
            <a:r>
              <a:rPr lang="en-US" sz="1700" b="1" spc="100" kern="0" dirty="0">
                <a:solidFill>
                  <a:srgbClr val="355071"/>
                </a:solidFill>
                <a:latin typeface="Calibri" pitchFamily="34" charset="0"/>
                <a:ea typeface="Calibri" pitchFamily="34" charset="-122"/>
                <a:cs typeface="Calibri" pitchFamily="34" charset="-120"/>
              </a:rPr>
              <a:t>DE ONDERZOEKER BLIJFT REGISSEUR</a:t>
            </a:r>
            <a:endParaRPr lang="en-US" sz="1700" dirty="0"/>
          </a:p>
        </p:txBody>
      </p:sp>
      <p:sp>
        <p:nvSpPr>
          <p:cNvPr id="10" name="Text 8"/>
          <p:cNvSpPr/>
          <p:nvPr/>
        </p:nvSpPr>
        <p:spPr>
          <a:xfrm>
            <a:off x="4572000" y="2697480"/>
            <a:ext cx="3017520" cy="2194560"/>
          </a:xfrm>
          <a:prstGeom prst="rect">
            <a:avLst/>
          </a:prstGeom>
          <a:noFill/>
          <a:ln/>
        </p:spPr>
        <p:txBody>
          <a:bodyPr wrap="square" rtlCol="0" anchor="ctr"/>
          <a:lstStyle/>
          <a:p>
            <a:pPr indent="0" marL="0">
              <a:buNone/>
            </a:pPr>
            <a:r>
              <a:rPr lang="en-US" sz="1550" dirty="0">
                <a:solidFill>
                  <a:srgbClr val="1A1A1A"/>
                </a:solidFill>
                <a:latin typeface="Calibri" pitchFamily="34" charset="0"/>
                <a:ea typeface="Calibri" pitchFamily="34" charset="-122"/>
                <a:cs typeface="Calibri" pitchFamily="34" charset="-120"/>
              </a:rPr>
              <a:t>Jij stelt de vraag, schrijft de leidraad, controleert de codering en interpreteert. De agent voert uit.</a:t>
            </a:r>
            <a:endParaRPr lang="en-US" sz="1550" dirty="0"/>
          </a:p>
        </p:txBody>
      </p:sp>
      <p:sp>
        <p:nvSpPr>
          <p:cNvPr id="11" name="Shape 9"/>
          <p:cNvSpPr/>
          <p:nvPr/>
        </p:nvSpPr>
        <p:spPr>
          <a:xfrm>
            <a:off x="8183880" y="1463040"/>
            <a:ext cx="3474720" cy="3566160"/>
          </a:xfrm>
          <a:prstGeom prst="rect">
            <a:avLst/>
          </a:prstGeom>
          <a:solidFill>
            <a:srgbClr val="F0F2F5"/>
          </a:solidFill>
          <a:ln/>
        </p:spPr>
      </p:sp>
      <p:sp>
        <p:nvSpPr>
          <p:cNvPr id="12" name="Shape 10"/>
          <p:cNvSpPr/>
          <p:nvPr/>
        </p:nvSpPr>
        <p:spPr>
          <a:xfrm>
            <a:off x="8183880" y="1463040"/>
            <a:ext cx="3474720" cy="109728"/>
          </a:xfrm>
          <a:prstGeom prst="rect">
            <a:avLst/>
          </a:prstGeom>
          <a:solidFill>
            <a:srgbClr val="5D7291"/>
          </a:solidFill>
          <a:ln/>
        </p:spPr>
      </p:sp>
      <p:sp>
        <p:nvSpPr>
          <p:cNvPr id="13" name="Text 11"/>
          <p:cNvSpPr/>
          <p:nvPr/>
        </p:nvSpPr>
        <p:spPr>
          <a:xfrm>
            <a:off x="8412480" y="1783080"/>
            <a:ext cx="3017520" cy="868680"/>
          </a:xfrm>
          <a:prstGeom prst="rect">
            <a:avLst/>
          </a:prstGeom>
          <a:noFill/>
          <a:ln/>
        </p:spPr>
        <p:txBody>
          <a:bodyPr wrap="square" rtlCol="0" anchor="t"/>
          <a:lstStyle/>
          <a:p>
            <a:pPr indent="0" marL="0">
              <a:buNone/>
            </a:pPr>
            <a:r>
              <a:rPr lang="en-US" sz="1700" b="1" spc="100" kern="0" dirty="0">
                <a:solidFill>
                  <a:srgbClr val="355071"/>
                </a:solidFill>
                <a:latin typeface="Calibri" pitchFamily="34" charset="0"/>
                <a:ea typeface="Calibri" pitchFamily="34" charset="-122"/>
                <a:cs typeface="Calibri" pitchFamily="34" charset="-120"/>
              </a:rPr>
              <a:t>DIT WAS ÉÉN MODULE</a:t>
            </a:r>
            <a:endParaRPr lang="en-US" sz="1700" dirty="0"/>
          </a:p>
        </p:txBody>
      </p:sp>
      <p:sp>
        <p:nvSpPr>
          <p:cNvPr id="14" name="Text 12"/>
          <p:cNvSpPr/>
          <p:nvPr/>
        </p:nvSpPr>
        <p:spPr>
          <a:xfrm>
            <a:off x="8412480" y="2697480"/>
            <a:ext cx="3017520" cy="2194560"/>
          </a:xfrm>
          <a:prstGeom prst="rect">
            <a:avLst/>
          </a:prstGeom>
          <a:noFill/>
          <a:ln/>
        </p:spPr>
        <p:txBody>
          <a:bodyPr wrap="square" rtlCol="0" anchor="ctr"/>
          <a:lstStyle/>
          <a:p>
            <a:pPr indent="0" marL="0">
              <a:buNone/>
            </a:pPr>
            <a:r>
              <a:rPr lang="en-US" sz="1550" dirty="0">
                <a:solidFill>
                  <a:srgbClr val="1A1A1A"/>
                </a:solidFill>
                <a:latin typeface="Calibri" pitchFamily="34" charset="0"/>
                <a:ea typeface="Calibri" pitchFamily="34" charset="-122"/>
                <a:cs typeface="Calibri" pitchFamily="34" charset="-120"/>
              </a:rPr>
              <a:t>Hetzelfde platform doet ook surveys, statistiek, literatuuronderzoek en artikel-drafts.</a:t>
            </a:r>
            <a:endParaRPr lang="en-US" sz="1550" dirty="0"/>
          </a:p>
        </p:txBody>
      </p:sp>
      <p:sp>
        <p:nvSpPr>
          <p:cNvPr id="15" name="Text 13"/>
          <p:cNvSpPr/>
          <p:nvPr/>
        </p:nvSpPr>
        <p:spPr>
          <a:xfrm>
            <a:off x="502920" y="5349240"/>
            <a:ext cx="11155680" cy="365760"/>
          </a:xfrm>
          <a:prstGeom prst="rect">
            <a:avLst/>
          </a:prstGeom>
          <a:noFill/>
          <a:ln/>
        </p:spPr>
        <p:txBody>
          <a:bodyPr wrap="square" rtlCol="0" anchor="ctr"/>
          <a:lstStyle/>
          <a:p>
            <a:pPr indent="0" marL="0">
              <a:buNone/>
            </a:pPr>
            <a:r>
              <a:rPr lang="en-US" sz="1300" i="1" dirty="0">
                <a:solidFill>
                  <a:srgbClr val="355071"/>
                </a:solidFill>
                <a:latin typeface="Calibri" pitchFamily="34" charset="0"/>
                <a:ea typeface="Calibri" pitchFamily="34" charset="-122"/>
                <a:cs typeface="Calibri" pitchFamily="34" charset="-120"/>
              </a:rPr>
              <a:t>Randvoorwaarden blijven: ethische toetsing, informed consent en menselijke eindverantwoordelijkheid.</a:t>
            </a:r>
            <a:endParaRPr lang="en-US" sz="1300" dirty="0"/>
          </a:p>
        </p:txBody>
      </p:sp>
      <p:sp>
        <p:nvSpPr>
          <p:cNvPr id="16" name="Shape 14"/>
          <p:cNvSpPr/>
          <p:nvPr/>
        </p:nvSpPr>
        <p:spPr>
          <a:xfrm>
            <a:off x="0" y="6473952"/>
            <a:ext cx="12161520" cy="384048"/>
          </a:xfrm>
          <a:prstGeom prst="rect">
            <a:avLst/>
          </a:prstGeom>
          <a:solidFill>
            <a:srgbClr val="5D7291"/>
          </a:solidFill>
          <a:ln/>
        </p:spPr>
      </p:sp>
      <p:sp>
        <p:nvSpPr>
          <p:cNvPr id="17" name="Text 15"/>
          <p:cNvSpPr/>
          <p:nvPr/>
        </p:nvSpPr>
        <p:spPr>
          <a:xfrm>
            <a:off x="0" y="6473952"/>
            <a:ext cx="12161520" cy="384048"/>
          </a:xfrm>
          <a:prstGeom prst="rect">
            <a:avLst/>
          </a:prstGeom>
          <a:noFill/>
          <a:ln/>
        </p:spPr>
        <p:txBody>
          <a:bodyPr wrap="square" rtlCol="0" anchor="ctr"/>
          <a:lstStyle/>
          <a:p>
            <a:pPr algn="ctr" indent="0" marL="0">
              <a:buNone/>
            </a:pPr>
            <a:r>
              <a:rPr lang="en-US" sz="1000" b="1" spc="400" kern="0" dirty="0">
                <a:solidFill>
                  <a:srgbClr val="FFFFFF"/>
                </a:solidFill>
                <a:latin typeface="Calibri" pitchFamily="34" charset="0"/>
                <a:ea typeface="Calibri" pitchFamily="34" charset="-122"/>
                <a:cs typeface="Calibri" pitchFamily="34" charset="-120"/>
              </a:rPr>
              <a:t>NYENRODE. A REWARD FOR LIFE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55071"/>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FBBA20"/>
          </a:solidFill>
          <a:ln/>
        </p:spPr>
      </p:sp>
      <p:sp>
        <p:nvSpPr>
          <p:cNvPr id="3" name="Text 1"/>
          <p:cNvSpPr/>
          <p:nvPr/>
        </p:nvSpPr>
        <p:spPr>
          <a:xfrm>
            <a:off x="914400" y="2194560"/>
            <a:ext cx="10332720" cy="914400"/>
          </a:xfrm>
          <a:prstGeom prst="rect">
            <a:avLst/>
          </a:prstGeom>
          <a:noFill/>
          <a:ln/>
        </p:spPr>
        <p:txBody>
          <a:bodyPr wrap="square" rtlCol="0" anchor="ctr"/>
          <a:lstStyle/>
          <a:p>
            <a:pPr algn="ctr" indent="0" marL="0">
              <a:buNone/>
            </a:pPr>
            <a:r>
              <a:rPr lang="en-US" sz="5400" b="1" spc="500" kern="0" dirty="0">
                <a:solidFill>
                  <a:srgbClr val="FBBA20"/>
                </a:solidFill>
                <a:latin typeface="Calibri" pitchFamily="34" charset="0"/>
                <a:ea typeface="Calibri" pitchFamily="34" charset="-122"/>
                <a:cs typeface="Calibri" pitchFamily="34" charset="-120"/>
              </a:rPr>
              <a:t>3 MINUTEN.</a:t>
            </a:r>
            <a:endParaRPr lang="en-US" sz="5400" dirty="0"/>
          </a:p>
        </p:txBody>
      </p:sp>
      <p:sp>
        <p:nvSpPr>
          <p:cNvPr id="4" name="Text 2"/>
          <p:cNvSpPr/>
          <p:nvPr/>
        </p:nvSpPr>
        <p:spPr>
          <a:xfrm>
            <a:off x="914400" y="3154680"/>
            <a:ext cx="10332720" cy="822960"/>
          </a:xfrm>
          <a:prstGeom prst="rect">
            <a:avLst/>
          </a:prstGeom>
          <a:noFill/>
          <a:ln/>
        </p:spPr>
        <p:txBody>
          <a:bodyPr wrap="square" rtlCol="0" anchor="ctr"/>
          <a:lstStyle/>
          <a:p>
            <a:pPr algn="ctr" indent="0" marL="0">
              <a:buNone/>
            </a:pPr>
            <a:r>
              <a:rPr lang="en-US" sz="4000" b="1" spc="500" kern="0" dirty="0">
                <a:solidFill>
                  <a:srgbClr val="FFFFFF"/>
                </a:solidFill>
                <a:latin typeface="Calibri" pitchFamily="34" charset="0"/>
                <a:ea typeface="Calibri" pitchFamily="34" charset="-122"/>
                <a:cs typeface="Calibri" pitchFamily="34" charset="-120"/>
              </a:rPr>
              <a:t>VAN VRAAG NAAR INZICHT.</a:t>
            </a:r>
            <a:endParaRPr lang="en-US" sz="4000" dirty="0"/>
          </a:p>
        </p:txBody>
      </p:sp>
      <p:sp>
        <p:nvSpPr>
          <p:cNvPr id="5" name="Text 3"/>
          <p:cNvSpPr/>
          <p:nvPr/>
        </p:nvSpPr>
        <p:spPr>
          <a:xfrm>
            <a:off x="1371600" y="4206240"/>
            <a:ext cx="9418320" cy="457200"/>
          </a:xfrm>
          <a:prstGeom prst="rect">
            <a:avLst/>
          </a:prstGeom>
          <a:noFill/>
          <a:ln/>
        </p:spPr>
        <p:txBody>
          <a:bodyPr wrap="square" rtlCol="0" anchor="ctr"/>
          <a:lstStyle/>
          <a:p>
            <a:pPr algn="ctr" indent="0" marL="0">
              <a:buNone/>
            </a:pPr>
            <a:r>
              <a:rPr lang="en-US" sz="1500" dirty="0">
                <a:solidFill>
                  <a:srgbClr val="C8D3D9"/>
                </a:solidFill>
                <a:latin typeface="Calibri" pitchFamily="34" charset="0"/>
                <a:ea typeface="Calibri" pitchFamily="34" charset="-122"/>
                <a:cs typeface="Calibri" pitchFamily="34" charset="-120"/>
              </a:rPr>
              <a:t>NBU Research Agent · interviews, surveys, analyse, literatuur en schrijven in één platform</a:t>
            </a:r>
            <a:endParaRPr lang="en-US" sz="1500" dirty="0"/>
          </a:p>
        </p:txBody>
      </p:sp>
      <p:sp>
        <p:nvSpPr>
          <p:cNvPr id="6" name="Shape 4"/>
          <p:cNvSpPr/>
          <p:nvPr/>
        </p:nvSpPr>
        <p:spPr>
          <a:xfrm>
            <a:off x="0" y="6473952"/>
            <a:ext cx="12161520" cy="384048"/>
          </a:xfrm>
          <a:prstGeom prst="rect">
            <a:avLst/>
          </a:prstGeom>
          <a:solidFill>
            <a:srgbClr val="5D7291"/>
          </a:solidFill>
          <a:ln/>
        </p:spPr>
      </p:sp>
      <p:sp>
        <p:nvSpPr>
          <p:cNvPr id="7" name="Text 5"/>
          <p:cNvSpPr/>
          <p:nvPr/>
        </p:nvSpPr>
        <p:spPr>
          <a:xfrm>
            <a:off x="0" y="6473952"/>
            <a:ext cx="12161520" cy="384048"/>
          </a:xfrm>
          <a:prstGeom prst="rect">
            <a:avLst/>
          </a:prstGeom>
          <a:noFill/>
          <a:ln/>
        </p:spPr>
        <p:txBody>
          <a:bodyPr wrap="square" rtlCol="0" anchor="ctr"/>
          <a:lstStyle/>
          <a:p>
            <a:pPr algn="ctr" indent="0" marL="0">
              <a:buNone/>
            </a:pPr>
            <a:r>
              <a:rPr lang="en-US" sz="1000" b="1" spc="400" kern="0" dirty="0">
                <a:solidFill>
                  <a:srgbClr val="FFFFFF"/>
                </a:solidFill>
                <a:latin typeface="Calibri" pitchFamily="34" charset="0"/>
                <a:ea typeface="Calibri" pitchFamily="34" charset="-122"/>
                <a:cs typeface="Calibri" pitchFamily="34" charset="-120"/>
              </a:rPr>
              <a:t>NYENRODE. A REWARD FOR LIFE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NBU Research Agent — demo</dc:title>
  <dc:subject>PptxGenJS Presentation</dc:subject>
  <dc:creator>Dieter Vlaminck</dc:creator>
  <cp:lastModifiedBy>Dieter Vlaminck</cp:lastModifiedBy>
  <cp:revision>1</cp:revision>
  <dcterms:created xsi:type="dcterms:W3CDTF">2026-06-10T21:06:17Z</dcterms:created>
  <dcterms:modified xsi:type="dcterms:W3CDTF">2026-06-10T21:06:17Z</dcterms:modified>
</cp:coreProperties>
</file>